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8798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asks whether topological summaries of spectrogram fields can detect spoofed or deepfaked audio.
The second question is whether the structure transfers across datasets rather than only fitting one benchmark.
I'll walk through the method, the main structural findings, and why the low-band / H1 story matters.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audio deepfake detection systems are strong but hard to interpret.
I wanted to test whether topological summaries can recover discriminative structure in a way that is easier to probe and ablate.
The goal is not only performance — it is to learn something structural about the signal.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treat the mel spectrogram as a 2-D field, compute cubical persistent homology on that field, vectorize the resulting persistence information, and then classify from those topological vectors.
The key levers were low-band masking, energy gating, and homology-dimension ablations.
This keeps the method more interpretable than an end-to-end spectrogram model.
The next two slides show what these spectrograms actually look like and how the ablation masks change the field before any topology is computed.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here so everyone knows what the topology is actually being computed on.
Top row: raw mel spectrograms — one bona fide, one spoof. The dashed line marks the low-band cutoff.
Bottom row: the same samples after field preprocessing — dB compression and energy gating. This is the 'reference field' that goes into cubical PH.
Teaching point: the visual difference between real and fake is NOT supposed to be obvious to the eye. The classifier does not operate on pixels directly — it summarizes stable topological structure in these fields. That is the whole point of using PH instead of just a CNN.
If someone asks 'can you see the difference?': not reliably by eye, but the topology captures structural patterns across the entire field that are not visible in any single pixel region.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the low-band story visual before you ever mention AUC or EER.
Walk through the five panels:
1. Raw mel (dB) — the human-readable spectrogram.
2. Reference field — after energy gating and compression. This is the full-field input to cubical PH.
3. keep_low — everything above the low-band cutoff is zeroed out. Only the bottom third survives. This is the branch that wins.
4. drop_low — the opposite: only the upper bands survive, the bottom is removed. This is the branch that collapses.
5. keep_low + gate_off — same low-band mask but without energy gating, so silent frames are included.
You can literally point at the lower third: the successful branch keeps this region, the failing branch deletes it. That makes the low-band story concrete before you even show the numbers.
WHAT IS ABLATION? In this context, ablation means deliberately removing one part of the representation — a frequency band, a homology dimension, a preprocessing step — and re-running the full pipeline to see what mattered. It is a controlled subtraction experiment. If removing something causes performance to collapse, that component was carrying real signal. PH is especially well-suited for this because its features have concrete geometric meaning: when you ablate a frequency band and H1 collapses, that tells you the loops in that region were the signal. A CNN ablation would tell you 'this layer mattered,' but not what geometric property of the input was driving the discrimination.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topology and not some other feature extraction.
The key point: PH produces summaries tied to real geometric properties of the input field. When you ablate a frequency band and the H1 persistence collapses, that tells you something structural: the loop-like patterns in that region were carrying the signal. A CNN ablation might tell you 'layer 3 matters,' but that is about the model, not the data's geometry.
PH sits in a sweet spot for explainability:
- Its features (components, loops, voids) have concrete geometric meaning.
- You can ablate at the representation level (which band? which homology dimension?) and get answers about the signal, not the classifier.
- The stability theorem guarantees small perturbations → small persistence changes, so features are robust by construction.
H0 = connected components. H1 = loops. H2 = voids (did not help in this 2-D setup).
If someone asks 'why not GradCAM?': GradCAM tells you which pixels the model looked at, but not what structural property of the signal matters. PH ablation tells you which geometric motif is carrying the discrimination.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bridges from what we learned in class (Vietoris-Rips) to what this project uses (cubical complexes).
VIETORIS-RIPS — what we covered in class:
- Start with a point cloud in some ambient space.
- For each radius epsilon, connect every pair of points within distance epsilon.
- Fill in all cliques to get a simplicial complex.
- Track how features (components, loops, voids) are born and die as epsilon grows.
- Great for unstructured data — embeddings, trajectories, point samples from a manifold.
- Downside: O(n²) distance matrix, combinatorial blowup.
CUBICAL COMPLEXES — what this project uses:
- Input is already on a regular grid — a 2-D spectrogram where each pixel has a value.
- Instead of simplices from distances, build cubes from grid cells: vertices are pixels, edges connect grid-adjacent pixels, squares fill in 2x2 neighborhoods.
- The filtration is a sublevel-set filtration on pixel values: sweep a threshold from low to high, cells enter the complex when their value falls below the threshold.
- Much faster — linear in pixel count, no pairwise distances.
- Respects the grid structure of the image, which a VR complex on the same pixels would throw away.
WHY CUBICAL WON in this project:
- A spectrogram is a structured 2-D field. Cubical PH treats it as such.
- Spatial ablations are natural: mask a frequency band in the grid and re-run cubical PH.
- I also tried VR on MFCC point clouds — it worked but was weaker and harder to ablate spatially.
If someone asks about the filtration: in VR, the parameter is the distance radius epsilon. In cubical, the parameter is the pixel-value threshold. Both sweep from 'nothing' to 'everything,' tracking what topological features appear and disappear along the way.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original strongest setup on ASVspoof 2019 LA.
Key numbers:
- keep_low: AUC 0.974, EER 0.075 — best overall.
- keep_low_h1: AUC 0.956, EER 0.106 — H1 alone is strong.
- reference (full field): AUC 0.946, EER 0.124.
- keep_low_h0: AUC 0.877, EER 0.193 — H0 helps but is much weaker.
- drop_low: AUC 0.820, EER 0.265 — the largest degradation.
- H2 tested separately: collapsed to chance (AUC 0.500).
Low-band structure was the strongest signal. H1 was the most robust component, but H0+H1 combined was best in-domain.
Each bar is a full re-run of the pipeline with one component removed or isolated. When keep_low beats the full reference, that means the upper bands were adding noise, not signal.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narrative slide.
The winner shifts by dataset:
- 2019 LA in-domain → keep_low (EER 0.090 vs 0.102)
- 2021 LA transfer → keep_low_h1 with C=2 (EER 0.210 vs 0.228)
- 2021 LA internal → keep_low / gate10 (EER 0.110 vs 0.122)
- 2021 DF bounded → keep_low + gate_off (EER 0.266 vs 0.284)
But the low-band family keeps surviving across all four settings.
That is more interesting than one config winning everywhere — the structural principle transfers, even if the exact parameterization doesn't.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neural pass was deliberately small and controlled — same topology inputs, more expressive classifier.
Three heads: linear baseline, flat MLP, staged MLP.
Staged MLP trains low-band H1 core first, then adds H0 auxiliary, then full-field auxiliary.
Results (EER):
- 2019 dev: 0.078 (staged) vs 0.084 (flat) vs 0.129 (linear).
- 2021 LA transfer: 0.224 vs 0.230 vs 0.257.
- 2021 DF transfer: 0.273 vs 0.275 vs 0.302.
Ablation heatmap (right panel) is the key interpretability result:
- Staged MLP depends most on H1 core (AUC drop 0.043 when removed).
- Linear baseline depends most on full auxiliary (AUC drop 0.172).
Staged training didn't just improve metrics — it improved alignment with the structural hypothesis.
Important: staged MLP has not yet beaten the strongest tuned classical transfer config.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easiest slide for making the method feel less abstract.
Sample LA_E_9616893 from 2021 LA — true label is bona fide.
- full_reference: fake probability 0.971 — confident wrong answer.
- drop_low: 0.965 — still wrong.
- keep_low: 0.090 — correct.
- keep_low_h1: 0.018 — most confident correct answer.
This shows the structural claim manifests at the individual sample level.
This is where the explainability argument lands concretely: the full-field topology was misled by broadband structure, but isolating low-band loops recovers the correct answer. That kind of localized structural explanation is what PH-based ablation uniquely provides.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limitations.
These honest caveats strengthen credibility of the structural claims you do make.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structural story, not just the best metric.
Main claims:
1. Cubical PH on spectrogram fields works.
2. Low-band topology is the most robust motif.
3. H1 matters most for transfer.
4. PH-based ablation gives explanations about the signal's geometry, not just which model layer lit up.
5. Staged topology-only learning is a promising direction.
Closing line: 'Topology is not just usable here — it is diagnostically useful.'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4572000"/>
            <a:ext cx="9144000" cy="571500"/>
          </a:xfrm>
          <a:prstGeom prst="rect">
            <a:avLst/>
          </a:prstGeom>
          <a:solidFill>
            <a:srgbClr val="2B3D5B"/>
          </a:solidFill>
          <a:ln/>
        </p:spPr>
        <p:txBody>
          <a:bodyPr/>
          <a:lstStyle/>
          <a:p>
            <a:endParaRPr lang="en-US"/>
          </a:p>
        </p:txBody>
      </p:sp>
      <p:sp>
        <p:nvSpPr>
          <p:cNvPr id="3" name="Text 1"/>
          <p:cNvSpPr/>
          <p:nvPr/>
        </p:nvSpPr>
        <p:spPr>
          <a:xfrm>
            <a:off x="731520" y="1005840"/>
            <a:ext cx="7680960" cy="1097280"/>
          </a:xfrm>
          <a:prstGeom prst="rect">
            <a:avLst/>
          </a:prstGeom>
          <a:noFill/>
          <a:ln/>
        </p:spPr>
        <p:txBody>
          <a:bodyPr wrap="square" lIns="0" tIns="0" rIns="0" bIns="0" rtlCol="0" anchor="ctr"/>
          <a:lstStyle/>
          <a:p>
            <a:pPr marL="0" indent="0" algn="l">
              <a:buNone/>
            </a:pPr>
            <a:r>
              <a:rPr lang="en-US" sz="4000" b="1" dirty="0">
                <a:solidFill>
                  <a:srgbClr val="FFFFFF"/>
                </a:solidFill>
                <a:latin typeface="Georgia" pitchFamily="34" charset="0"/>
                <a:ea typeface="Georgia" pitchFamily="34" charset="-122"/>
                <a:cs typeface="Georgia" pitchFamily="34" charset="-120"/>
              </a:rPr>
              <a:t>Topological Deepfake Detection</a:t>
            </a:r>
            <a:endParaRPr lang="en-US" sz="4000" dirty="0"/>
          </a:p>
        </p:txBody>
      </p:sp>
      <p:sp>
        <p:nvSpPr>
          <p:cNvPr id="4" name="Text 2"/>
          <p:cNvSpPr/>
          <p:nvPr/>
        </p:nvSpPr>
        <p:spPr>
          <a:xfrm>
            <a:off x="731520" y="2194560"/>
            <a:ext cx="7680960" cy="914400"/>
          </a:xfrm>
          <a:prstGeom prst="rect">
            <a:avLst/>
          </a:prstGeom>
          <a:noFill/>
          <a:ln/>
        </p:spPr>
        <p:txBody>
          <a:bodyPr wrap="square" lIns="0" tIns="0" rIns="0" bIns="0" rtlCol="0" anchor="ctr"/>
          <a:lstStyle/>
          <a:p>
            <a:pPr marL="0" indent="0" algn="l">
              <a:buNone/>
            </a:pPr>
            <a:r>
              <a:rPr lang="en-US" sz="1800" dirty="0">
                <a:solidFill>
                  <a:srgbClr val="40BFA3"/>
                </a:solidFill>
                <a:latin typeface="Calibri" pitchFamily="34" charset="0"/>
                <a:ea typeface="Calibri" pitchFamily="34" charset="-122"/>
                <a:cs typeface="Calibri" pitchFamily="34" charset="-120"/>
              </a:rPr>
              <a:t>Can persistent homology on spectrogram fields</a:t>
            </a:r>
            <a:endParaRPr lang="en-US" sz="1800" dirty="0"/>
          </a:p>
          <a:p>
            <a:pPr marL="0" indent="0" algn="l">
              <a:buNone/>
            </a:pPr>
            <a:r>
              <a:rPr lang="en-US" sz="1800" dirty="0">
                <a:solidFill>
                  <a:srgbClr val="40BFA3"/>
                </a:solidFill>
                <a:latin typeface="Calibri" pitchFamily="34" charset="0"/>
                <a:ea typeface="Calibri" pitchFamily="34" charset="-122"/>
                <a:cs typeface="Calibri" pitchFamily="34" charset="-120"/>
              </a:rPr>
              <a:t>separate real speech from fakes — and transfer?</a:t>
            </a:r>
            <a:endParaRPr lang="en-US" sz="1800" dirty="0"/>
          </a:p>
        </p:txBody>
      </p:sp>
      <p:sp>
        <p:nvSpPr>
          <p:cNvPr id="5" name="Text 3"/>
          <p:cNvSpPr/>
          <p:nvPr/>
        </p:nvSpPr>
        <p:spPr>
          <a:xfrm>
            <a:off x="731520" y="4617720"/>
            <a:ext cx="7680960" cy="457200"/>
          </a:xfrm>
          <a:prstGeom prst="rect">
            <a:avLst/>
          </a:prstGeom>
          <a:noFill/>
          <a:ln/>
        </p:spPr>
        <p:txBody>
          <a:bodyPr wrap="square" lIns="0" tIns="0" rIns="0" bIns="0" rtlCol="0" anchor="ctr"/>
          <a:lstStyle/>
          <a:p>
            <a:pPr marL="0" indent="0" algn="l">
              <a:buNone/>
            </a:pPr>
            <a:r>
              <a:rPr lang="en-US" sz="1300" dirty="0">
                <a:solidFill>
                  <a:srgbClr val="E5E7EB"/>
                </a:solidFill>
                <a:latin typeface="Calibri" pitchFamily="34" charset="0"/>
                <a:ea typeface="Calibri" pitchFamily="34" charset="-122"/>
                <a:cs typeface="Calibri" pitchFamily="34" charset="-120"/>
              </a:rPr>
              <a:t>Owen Rempfer  ·  TDA Course Project  ·  April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3400" b="1" dirty="0">
                <a:solidFill>
                  <a:srgbClr val="1A2744"/>
                </a:solidFill>
                <a:latin typeface="Georgia" pitchFamily="34" charset="0"/>
                <a:ea typeface="Georgia" pitchFamily="34" charset="-122"/>
                <a:cs typeface="Georgia" pitchFamily="34" charset="-120"/>
              </a:rPr>
              <a:t>The Problem</a:t>
            </a:r>
            <a:endParaRPr lang="en-US" sz="3400" dirty="0"/>
          </a:p>
        </p:txBody>
      </p:sp>
      <p:sp>
        <p:nvSpPr>
          <p:cNvPr id="3" name="Shape 1"/>
          <p:cNvSpPr/>
          <p:nvPr/>
        </p:nvSpPr>
        <p:spPr>
          <a:xfrm>
            <a:off x="731520" y="1234440"/>
            <a:ext cx="7680960" cy="1051560"/>
          </a:xfrm>
          <a:prstGeom prst="rect">
            <a:avLst/>
          </a:prstGeom>
          <a:solidFill>
            <a:srgbClr val="FFFFFF"/>
          </a:solidFill>
          <a:ln w="12700">
            <a:solidFill>
              <a:srgbClr val="E5E7EB"/>
            </a:solidFill>
            <a:prstDash val="solid"/>
          </a:ln>
          <a:effectLst>
            <a:outerShdw blurRad="50800" dist="25400" dir="8100000" algn="bl" rotWithShape="0">
              <a:srgbClr val="000000">
                <a:alpha val="10000"/>
              </a:srgbClr>
            </a:outerShdw>
          </a:effectLst>
        </p:spPr>
        <p:txBody>
          <a:bodyPr/>
          <a:lstStyle/>
          <a:p>
            <a:endParaRPr lang="en-US"/>
          </a:p>
        </p:txBody>
      </p:sp>
      <p:sp>
        <p:nvSpPr>
          <p:cNvPr id="4" name="Shape 2"/>
          <p:cNvSpPr/>
          <p:nvPr/>
        </p:nvSpPr>
        <p:spPr>
          <a:xfrm>
            <a:off x="731520" y="1234440"/>
            <a:ext cx="64008" cy="1051560"/>
          </a:xfrm>
          <a:prstGeom prst="rect">
            <a:avLst/>
          </a:prstGeom>
          <a:solidFill>
            <a:srgbClr val="2A9D8F"/>
          </a:solidFill>
          <a:ln/>
        </p:spPr>
        <p:txBody>
          <a:bodyPr/>
          <a:lstStyle/>
          <a:p>
            <a:endParaRPr lang="en-US"/>
          </a:p>
        </p:txBody>
      </p:sp>
      <p:sp>
        <p:nvSpPr>
          <p:cNvPr id="5" name="Text 3"/>
          <p:cNvSpPr/>
          <p:nvPr/>
        </p:nvSpPr>
        <p:spPr>
          <a:xfrm>
            <a:off x="1051560" y="1325880"/>
            <a:ext cx="7132320" cy="365760"/>
          </a:xfrm>
          <a:prstGeom prst="rect">
            <a:avLst/>
          </a:prstGeom>
          <a:noFill/>
          <a:ln/>
        </p:spPr>
        <p:txBody>
          <a:bodyPr wrap="square" lIns="0" tIns="0" rIns="0" bIns="0" rtlCol="0" anchor="ctr"/>
          <a:lstStyle/>
          <a:p>
            <a:pPr marL="0" indent="0">
              <a:buNone/>
            </a:pPr>
            <a:r>
              <a:rPr lang="en-US" sz="1600" b="1" dirty="0">
                <a:solidFill>
                  <a:srgbClr val="1A2744"/>
                </a:solidFill>
                <a:latin typeface="Calibri" pitchFamily="34" charset="0"/>
                <a:ea typeface="Calibri" pitchFamily="34" charset="-122"/>
                <a:cs typeface="Calibri" pitchFamily="34" charset="-120"/>
              </a:rPr>
              <a:t>Deepfakes are improving fast</a:t>
            </a:r>
            <a:endParaRPr lang="en-US" sz="1600" dirty="0"/>
          </a:p>
        </p:txBody>
      </p:sp>
      <p:sp>
        <p:nvSpPr>
          <p:cNvPr id="6" name="Text 4"/>
          <p:cNvSpPr/>
          <p:nvPr/>
        </p:nvSpPr>
        <p:spPr>
          <a:xfrm>
            <a:off x="1051560" y="1691640"/>
            <a:ext cx="7132320" cy="502920"/>
          </a:xfrm>
          <a:prstGeom prst="rect">
            <a:avLst/>
          </a:prstGeom>
          <a:noFill/>
          <a:ln/>
        </p:spPr>
        <p:txBody>
          <a:bodyPr wrap="square" lIns="0" tIns="0" rIns="0" bIns="0" rtlCol="0" anchor="ctr"/>
          <a:lstStyle/>
          <a:p>
            <a:pPr marL="0" indent="0">
              <a:buNone/>
            </a:pPr>
            <a:r>
              <a:rPr lang="en-US" sz="1300" dirty="0">
                <a:solidFill>
                  <a:srgbClr val="374151"/>
                </a:solidFill>
                <a:latin typeface="Calibri" pitchFamily="34" charset="0"/>
                <a:ea typeface="Calibri" pitchFamily="34" charset="-122"/>
                <a:cs typeface="Calibri" pitchFamily="34" charset="-120"/>
              </a:rPr>
              <a:t>Modern synthesis (VALL-E, RVC, XTTS, etc.) produces speech that is increasingly hard to tell apart from real recordings.</a:t>
            </a:r>
            <a:endParaRPr lang="en-US" sz="1300" dirty="0"/>
          </a:p>
        </p:txBody>
      </p:sp>
      <p:sp>
        <p:nvSpPr>
          <p:cNvPr id="7" name="Shape 5"/>
          <p:cNvSpPr/>
          <p:nvPr/>
        </p:nvSpPr>
        <p:spPr>
          <a:xfrm>
            <a:off x="731520" y="2468880"/>
            <a:ext cx="7680960" cy="1051560"/>
          </a:xfrm>
          <a:prstGeom prst="rect">
            <a:avLst/>
          </a:prstGeom>
          <a:solidFill>
            <a:srgbClr val="FFFFFF"/>
          </a:solidFill>
          <a:ln w="12700">
            <a:solidFill>
              <a:srgbClr val="E5E7EB"/>
            </a:solidFill>
            <a:prstDash val="solid"/>
          </a:ln>
          <a:effectLst>
            <a:outerShdw blurRad="50800" dist="25400" dir="8100000" algn="bl" rotWithShape="0">
              <a:srgbClr val="000000">
                <a:alpha val="10000"/>
              </a:srgbClr>
            </a:outerShdw>
          </a:effectLst>
        </p:spPr>
        <p:txBody>
          <a:bodyPr/>
          <a:lstStyle/>
          <a:p>
            <a:endParaRPr lang="en-US"/>
          </a:p>
        </p:txBody>
      </p:sp>
      <p:sp>
        <p:nvSpPr>
          <p:cNvPr id="8" name="Shape 6"/>
          <p:cNvSpPr/>
          <p:nvPr/>
        </p:nvSpPr>
        <p:spPr>
          <a:xfrm>
            <a:off x="731520" y="2468880"/>
            <a:ext cx="64008" cy="1051560"/>
          </a:xfrm>
          <a:prstGeom prst="rect">
            <a:avLst/>
          </a:prstGeom>
          <a:solidFill>
            <a:srgbClr val="2A9D8F"/>
          </a:solidFill>
          <a:ln/>
        </p:spPr>
        <p:txBody>
          <a:bodyPr/>
          <a:lstStyle/>
          <a:p>
            <a:endParaRPr lang="en-US"/>
          </a:p>
        </p:txBody>
      </p:sp>
      <p:sp>
        <p:nvSpPr>
          <p:cNvPr id="9" name="Text 7"/>
          <p:cNvSpPr/>
          <p:nvPr/>
        </p:nvSpPr>
        <p:spPr>
          <a:xfrm>
            <a:off x="1051560" y="2560320"/>
            <a:ext cx="7132320" cy="365760"/>
          </a:xfrm>
          <a:prstGeom prst="rect">
            <a:avLst/>
          </a:prstGeom>
          <a:noFill/>
          <a:ln/>
        </p:spPr>
        <p:txBody>
          <a:bodyPr wrap="square" lIns="0" tIns="0" rIns="0" bIns="0" rtlCol="0" anchor="ctr"/>
          <a:lstStyle/>
          <a:p>
            <a:pPr marL="0" indent="0">
              <a:buNone/>
            </a:pPr>
            <a:r>
              <a:rPr lang="en-US" sz="1600" b="1" dirty="0">
                <a:solidFill>
                  <a:srgbClr val="1A2744"/>
                </a:solidFill>
                <a:latin typeface="Calibri" pitchFamily="34" charset="0"/>
                <a:ea typeface="Calibri" pitchFamily="34" charset="-122"/>
                <a:cs typeface="Calibri" pitchFamily="34" charset="-120"/>
              </a:rPr>
              <a:t>Current detectors are opaque</a:t>
            </a:r>
            <a:endParaRPr lang="en-US" sz="1600" dirty="0"/>
          </a:p>
        </p:txBody>
      </p:sp>
      <p:sp>
        <p:nvSpPr>
          <p:cNvPr id="10" name="Text 8"/>
          <p:cNvSpPr/>
          <p:nvPr/>
        </p:nvSpPr>
        <p:spPr>
          <a:xfrm>
            <a:off x="1051560" y="2926080"/>
            <a:ext cx="7132320" cy="502920"/>
          </a:xfrm>
          <a:prstGeom prst="rect">
            <a:avLst/>
          </a:prstGeom>
          <a:noFill/>
          <a:ln/>
        </p:spPr>
        <p:txBody>
          <a:bodyPr wrap="square" lIns="0" tIns="0" rIns="0" bIns="0" rtlCol="0" anchor="ctr"/>
          <a:lstStyle/>
          <a:p>
            <a:pPr marL="0" indent="0">
              <a:buNone/>
            </a:pPr>
            <a:r>
              <a:rPr lang="en-US" sz="1300" dirty="0">
                <a:solidFill>
                  <a:srgbClr val="374151"/>
                </a:solidFill>
                <a:latin typeface="Calibri" pitchFamily="34" charset="0"/>
                <a:ea typeface="Calibri" pitchFamily="34" charset="-122"/>
                <a:cs typeface="Calibri" pitchFamily="34" charset="-120"/>
              </a:rPr>
              <a:t>End-to-end neural classifiers output a score but cannot say which physical property of the audio is violated.</a:t>
            </a:r>
            <a:endParaRPr lang="en-US" sz="1300" dirty="0"/>
          </a:p>
        </p:txBody>
      </p:sp>
      <p:sp>
        <p:nvSpPr>
          <p:cNvPr id="11" name="Shape 9"/>
          <p:cNvSpPr/>
          <p:nvPr/>
        </p:nvSpPr>
        <p:spPr>
          <a:xfrm>
            <a:off x="731520" y="3703320"/>
            <a:ext cx="7680960" cy="1051560"/>
          </a:xfrm>
          <a:prstGeom prst="rect">
            <a:avLst/>
          </a:prstGeom>
          <a:solidFill>
            <a:srgbClr val="F4F1EC"/>
          </a:solidFill>
          <a:ln w="12700">
            <a:solidFill>
              <a:srgbClr val="E5E7EB"/>
            </a:solidFill>
            <a:prstDash val="solid"/>
          </a:ln>
          <a:effectLst>
            <a:outerShdw blurRad="50800" dist="25400" dir="8100000" algn="bl" rotWithShape="0">
              <a:srgbClr val="000000">
                <a:alpha val="10000"/>
              </a:srgbClr>
            </a:outerShdw>
          </a:effectLst>
        </p:spPr>
        <p:txBody>
          <a:bodyPr/>
          <a:lstStyle/>
          <a:p>
            <a:endParaRPr lang="en-US"/>
          </a:p>
        </p:txBody>
      </p:sp>
      <p:sp>
        <p:nvSpPr>
          <p:cNvPr id="12" name="Shape 10"/>
          <p:cNvSpPr/>
          <p:nvPr/>
        </p:nvSpPr>
        <p:spPr>
          <a:xfrm>
            <a:off x="731520" y="3703320"/>
            <a:ext cx="64008" cy="1051560"/>
          </a:xfrm>
          <a:prstGeom prst="rect">
            <a:avLst/>
          </a:prstGeom>
          <a:solidFill>
            <a:srgbClr val="E76F51"/>
          </a:solidFill>
          <a:ln/>
        </p:spPr>
        <p:txBody>
          <a:bodyPr/>
          <a:lstStyle/>
          <a:p>
            <a:endParaRPr lang="en-US"/>
          </a:p>
        </p:txBody>
      </p:sp>
      <p:sp>
        <p:nvSpPr>
          <p:cNvPr id="13" name="Text 11"/>
          <p:cNvSpPr/>
          <p:nvPr/>
        </p:nvSpPr>
        <p:spPr>
          <a:xfrm>
            <a:off x="1051560" y="3794760"/>
            <a:ext cx="7132320" cy="365760"/>
          </a:xfrm>
          <a:prstGeom prst="rect">
            <a:avLst/>
          </a:prstGeom>
          <a:noFill/>
          <a:ln/>
        </p:spPr>
        <p:txBody>
          <a:bodyPr wrap="square" lIns="0" tIns="0" rIns="0" bIns="0" rtlCol="0" anchor="ctr"/>
          <a:lstStyle/>
          <a:p>
            <a:pPr marL="0" indent="0">
              <a:buNone/>
            </a:pPr>
            <a:r>
              <a:rPr lang="en-US" sz="1600" b="1" dirty="0">
                <a:solidFill>
                  <a:srgbClr val="1A2744"/>
                </a:solidFill>
                <a:latin typeface="Calibri" pitchFamily="34" charset="0"/>
                <a:ea typeface="Calibri" pitchFamily="34" charset="-122"/>
                <a:cs typeface="Calibri" pitchFamily="34" charset="-120"/>
              </a:rPr>
              <a:t>Our question</a:t>
            </a:r>
            <a:endParaRPr lang="en-US" sz="1600" dirty="0"/>
          </a:p>
        </p:txBody>
      </p:sp>
      <p:sp>
        <p:nvSpPr>
          <p:cNvPr id="14" name="Text 12"/>
          <p:cNvSpPr/>
          <p:nvPr/>
        </p:nvSpPr>
        <p:spPr>
          <a:xfrm>
            <a:off x="1051560" y="4160520"/>
            <a:ext cx="7132320" cy="502920"/>
          </a:xfrm>
          <a:prstGeom prst="rect">
            <a:avLst/>
          </a:prstGeom>
          <a:noFill/>
          <a:ln/>
        </p:spPr>
        <p:txBody>
          <a:bodyPr wrap="square" lIns="0" tIns="0" rIns="0" bIns="0" rtlCol="0" anchor="ctr"/>
          <a:lstStyle/>
          <a:p>
            <a:pPr marL="0" indent="0">
              <a:buNone/>
            </a:pPr>
            <a:r>
              <a:rPr lang="en-US" sz="1300" dirty="0">
                <a:solidFill>
                  <a:srgbClr val="374151"/>
                </a:solidFill>
                <a:latin typeface="Calibri" pitchFamily="34" charset="0"/>
                <a:ea typeface="Calibri" pitchFamily="34" charset="-122"/>
                <a:cs typeface="Calibri" pitchFamily="34" charset="-120"/>
              </a:rPr>
              <a:t>Can stable topological structure in speech representations distinguish real from fake — and can we trace the signal to interpretable components?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3400" b="1" dirty="0">
                <a:solidFill>
                  <a:srgbClr val="1A2744"/>
                </a:solidFill>
                <a:latin typeface="Georgia" pitchFamily="34" charset="0"/>
                <a:ea typeface="Georgia" pitchFamily="34" charset="-122"/>
                <a:cs typeface="Georgia" pitchFamily="34" charset="-120"/>
              </a:rPr>
              <a:t>Method</a:t>
            </a:r>
            <a:endParaRPr lang="en-US" sz="3400" dirty="0"/>
          </a:p>
        </p:txBody>
      </p:sp>
      <p:sp>
        <p:nvSpPr>
          <p:cNvPr id="3" name="Shape 1"/>
          <p:cNvSpPr/>
          <p:nvPr/>
        </p:nvSpPr>
        <p:spPr>
          <a:xfrm>
            <a:off x="516636" y="1371600"/>
            <a:ext cx="1417320" cy="1188720"/>
          </a:xfrm>
          <a:prstGeom prst="roundRect">
            <a:avLst>
              <a:gd name="adj" fmla="val 6154"/>
            </a:avLst>
          </a:prstGeom>
          <a:solidFill>
            <a:srgbClr val="F4F1EC"/>
          </a:solidFill>
          <a:ln/>
          <a:effectLst>
            <a:outerShdw blurRad="50800" dist="25400" dir="8100000" algn="bl" rotWithShape="0">
              <a:srgbClr val="000000">
                <a:alpha val="10000"/>
              </a:srgbClr>
            </a:outerShdw>
          </a:effectLst>
        </p:spPr>
        <p:txBody>
          <a:bodyPr/>
          <a:lstStyle/>
          <a:p>
            <a:endParaRPr lang="en-US"/>
          </a:p>
        </p:txBody>
      </p:sp>
      <p:sp>
        <p:nvSpPr>
          <p:cNvPr id="4" name="Text 2"/>
          <p:cNvSpPr/>
          <p:nvPr/>
        </p:nvSpPr>
        <p:spPr>
          <a:xfrm>
            <a:off x="516636" y="1508760"/>
            <a:ext cx="1417320" cy="594360"/>
          </a:xfrm>
          <a:prstGeom prst="rect">
            <a:avLst/>
          </a:prstGeom>
          <a:noFill/>
          <a:ln/>
        </p:spPr>
        <p:txBody>
          <a:bodyPr wrap="square" lIns="0" tIns="0" rIns="0" bIns="0" rtlCol="0" anchor="ctr"/>
          <a:lstStyle/>
          <a:p>
            <a:pPr marL="0" indent="0" algn="ctr">
              <a:buNone/>
            </a:pPr>
            <a:r>
              <a:rPr lang="en-US" sz="1400" b="1" dirty="0">
                <a:solidFill>
                  <a:srgbClr val="1A2744"/>
                </a:solidFill>
                <a:latin typeface="Calibri" pitchFamily="34" charset="0"/>
                <a:ea typeface="Calibri" pitchFamily="34" charset="-122"/>
                <a:cs typeface="Calibri" pitchFamily="34" charset="-120"/>
              </a:rPr>
              <a:t>Audio</a:t>
            </a:r>
            <a:endParaRPr lang="en-US" sz="1400" dirty="0"/>
          </a:p>
        </p:txBody>
      </p:sp>
      <p:sp>
        <p:nvSpPr>
          <p:cNvPr id="5" name="Text 3"/>
          <p:cNvSpPr/>
          <p:nvPr/>
        </p:nvSpPr>
        <p:spPr>
          <a:xfrm>
            <a:off x="516636" y="2148840"/>
            <a:ext cx="1417320" cy="320040"/>
          </a:xfrm>
          <a:prstGeom prst="rect">
            <a:avLst/>
          </a:prstGeom>
          <a:noFill/>
          <a:ln/>
        </p:spPr>
        <p:txBody>
          <a:bodyPr wrap="square" lIns="0" tIns="0" rIns="0" bIns="0" rtlCol="0" anchor="t"/>
          <a:lstStyle/>
          <a:p>
            <a:pPr marL="0" indent="0" algn="ctr">
              <a:buNone/>
            </a:pPr>
            <a:r>
              <a:rPr lang="en-US" sz="1100" dirty="0">
                <a:solidFill>
                  <a:srgbClr val="6B7280"/>
                </a:solidFill>
                <a:latin typeface="Calibri" pitchFamily="34" charset="0"/>
                <a:ea typeface="Calibri" pitchFamily="34" charset="-122"/>
                <a:cs typeface="Calibri" pitchFamily="34" charset="-120"/>
              </a:rPr>
              <a:t>Speech clip</a:t>
            </a:r>
            <a:endParaRPr lang="en-US" sz="1100" dirty="0"/>
          </a:p>
        </p:txBody>
      </p:sp>
      <p:sp>
        <p:nvSpPr>
          <p:cNvPr id="6" name="Text 4"/>
          <p:cNvSpPr/>
          <p:nvPr/>
        </p:nvSpPr>
        <p:spPr>
          <a:xfrm>
            <a:off x="1933956" y="1645920"/>
            <a:ext cx="256032" cy="548640"/>
          </a:xfrm>
          <a:prstGeom prst="rect">
            <a:avLst/>
          </a:prstGeom>
          <a:noFill/>
          <a:ln/>
        </p:spPr>
        <p:txBody>
          <a:bodyPr wrap="square" lIns="0" tIns="0" rIns="0" bIns="0" rtlCol="0" anchor="ctr"/>
          <a:lstStyle/>
          <a:p>
            <a:pPr marL="0" indent="0" algn="ctr">
              <a:buNone/>
            </a:pPr>
            <a:r>
              <a:rPr lang="en-US" sz="1800" dirty="0">
                <a:solidFill>
                  <a:srgbClr val="6B7280"/>
                </a:solidFill>
                <a:latin typeface="Calibri" pitchFamily="34" charset="0"/>
                <a:ea typeface="Calibri" pitchFamily="34" charset="-122"/>
                <a:cs typeface="Calibri" pitchFamily="34" charset="-120"/>
              </a:rPr>
              <a:t>→</a:t>
            </a:r>
            <a:endParaRPr lang="en-US" sz="1800" dirty="0"/>
          </a:p>
        </p:txBody>
      </p:sp>
      <p:sp>
        <p:nvSpPr>
          <p:cNvPr id="7" name="Shape 5"/>
          <p:cNvSpPr/>
          <p:nvPr/>
        </p:nvSpPr>
        <p:spPr>
          <a:xfrm>
            <a:off x="2189988" y="1371600"/>
            <a:ext cx="1417320" cy="1188720"/>
          </a:xfrm>
          <a:prstGeom prst="roundRect">
            <a:avLst>
              <a:gd name="adj" fmla="val 6154"/>
            </a:avLst>
          </a:prstGeom>
          <a:solidFill>
            <a:srgbClr val="F4F1EC"/>
          </a:solidFill>
          <a:ln/>
          <a:effectLst>
            <a:outerShdw blurRad="50800" dist="25400" dir="8100000" algn="bl" rotWithShape="0">
              <a:srgbClr val="000000">
                <a:alpha val="10000"/>
              </a:srgbClr>
            </a:outerShdw>
          </a:effectLst>
        </p:spPr>
        <p:txBody>
          <a:bodyPr/>
          <a:lstStyle/>
          <a:p>
            <a:endParaRPr lang="en-US"/>
          </a:p>
        </p:txBody>
      </p:sp>
      <p:sp>
        <p:nvSpPr>
          <p:cNvPr id="8" name="Text 6"/>
          <p:cNvSpPr/>
          <p:nvPr/>
        </p:nvSpPr>
        <p:spPr>
          <a:xfrm>
            <a:off x="2189988" y="1508760"/>
            <a:ext cx="1417320" cy="594360"/>
          </a:xfrm>
          <a:prstGeom prst="rect">
            <a:avLst/>
          </a:prstGeom>
          <a:noFill/>
          <a:ln/>
        </p:spPr>
        <p:txBody>
          <a:bodyPr wrap="square" lIns="0" tIns="0" rIns="0" bIns="0" rtlCol="0" anchor="ctr"/>
          <a:lstStyle/>
          <a:p>
            <a:pPr marL="0" indent="0" algn="ctr">
              <a:buNone/>
            </a:pPr>
            <a:r>
              <a:rPr lang="en-US" sz="1400" b="1" dirty="0">
                <a:solidFill>
                  <a:srgbClr val="1A2744"/>
                </a:solidFill>
                <a:latin typeface="Calibri" pitchFamily="34" charset="0"/>
                <a:ea typeface="Calibri" pitchFamily="34" charset="-122"/>
                <a:cs typeface="Calibri" pitchFamily="34" charset="-120"/>
              </a:rPr>
              <a:t>Mel</a:t>
            </a:r>
            <a:endParaRPr lang="en-US" sz="1400" dirty="0"/>
          </a:p>
          <a:p>
            <a:pPr marL="0" indent="0" algn="ctr">
              <a:buNone/>
            </a:pPr>
            <a:r>
              <a:rPr lang="en-US" sz="1400" b="1" dirty="0">
                <a:solidFill>
                  <a:srgbClr val="1A2744"/>
                </a:solidFill>
                <a:latin typeface="Calibri" pitchFamily="34" charset="0"/>
                <a:ea typeface="Calibri" pitchFamily="34" charset="-122"/>
                <a:cs typeface="Calibri" pitchFamily="34" charset="-120"/>
              </a:rPr>
              <a:t>Spectrogram</a:t>
            </a:r>
            <a:endParaRPr lang="en-US" sz="1400" dirty="0"/>
          </a:p>
        </p:txBody>
      </p:sp>
      <p:sp>
        <p:nvSpPr>
          <p:cNvPr id="9" name="Text 7"/>
          <p:cNvSpPr/>
          <p:nvPr/>
        </p:nvSpPr>
        <p:spPr>
          <a:xfrm>
            <a:off x="2189988" y="2148840"/>
            <a:ext cx="1417320" cy="320040"/>
          </a:xfrm>
          <a:prstGeom prst="rect">
            <a:avLst/>
          </a:prstGeom>
          <a:noFill/>
          <a:ln/>
        </p:spPr>
        <p:txBody>
          <a:bodyPr wrap="square" lIns="0" tIns="0" rIns="0" bIns="0" rtlCol="0" anchor="t"/>
          <a:lstStyle/>
          <a:p>
            <a:pPr marL="0" indent="0" algn="ctr">
              <a:buNone/>
            </a:pPr>
            <a:r>
              <a:rPr lang="en-US" sz="1100" dirty="0">
                <a:solidFill>
                  <a:srgbClr val="6B7280"/>
                </a:solidFill>
                <a:latin typeface="Calibri" pitchFamily="34" charset="0"/>
                <a:ea typeface="Calibri" pitchFamily="34" charset="-122"/>
                <a:cs typeface="Calibri" pitchFamily="34" charset="-120"/>
              </a:rPr>
              <a:t>2-D field</a:t>
            </a:r>
            <a:endParaRPr lang="en-US" sz="1100" dirty="0"/>
          </a:p>
        </p:txBody>
      </p:sp>
      <p:sp>
        <p:nvSpPr>
          <p:cNvPr id="10" name="Text 8"/>
          <p:cNvSpPr/>
          <p:nvPr/>
        </p:nvSpPr>
        <p:spPr>
          <a:xfrm>
            <a:off x="3607308" y="1645920"/>
            <a:ext cx="256032" cy="548640"/>
          </a:xfrm>
          <a:prstGeom prst="rect">
            <a:avLst/>
          </a:prstGeom>
          <a:noFill/>
          <a:ln/>
        </p:spPr>
        <p:txBody>
          <a:bodyPr wrap="square" lIns="0" tIns="0" rIns="0" bIns="0" rtlCol="0" anchor="ctr"/>
          <a:lstStyle/>
          <a:p>
            <a:pPr marL="0" indent="0" algn="ctr">
              <a:buNone/>
            </a:pPr>
            <a:r>
              <a:rPr lang="en-US" sz="1800" dirty="0">
                <a:solidFill>
                  <a:srgbClr val="6B7280"/>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3863340" y="1371600"/>
            <a:ext cx="1417320" cy="1188720"/>
          </a:xfrm>
          <a:prstGeom prst="roundRect">
            <a:avLst>
              <a:gd name="adj" fmla="val 6154"/>
            </a:avLst>
          </a:prstGeom>
          <a:solidFill>
            <a:srgbClr val="2A9D8F"/>
          </a:solidFill>
          <a:ln/>
          <a:effectLst>
            <a:outerShdw blurRad="50800" dist="25400" dir="8100000" algn="bl" rotWithShape="0">
              <a:srgbClr val="000000">
                <a:alpha val="10000"/>
              </a:srgbClr>
            </a:outerShdw>
          </a:effectLst>
        </p:spPr>
        <p:txBody>
          <a:bodyPr/>
          <a:lstStyle/>
          <a:p>
            <a:endParaRPr lang="en-US"/>
          </a:p>
        </p:txBody>
      </p:sp>
      <p:sp>
        <p:nvSpPr>
          <p:cNvPr id="12" name="Text 10"/>
          <p:cNvSpPr/>
          <p:nvPr/>
        </p:nvSpPr>
        <p:spPr>
          <a:xfrm>
            <a:off x="3863340" y="1508760"/>
            <a:ext cx="141732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Cubical PH</a:t>
            </a:r>
            <a:endParaRPr lang="en-US" sz="1400" dirty="0"/>
          </a:p>
        </p:txBody>
      </p:sp>
      <p:sp>
        <p:nvSpPr>
          <p:cNvPr id="13" name="Text 11"/>
          <p:cNvSpPr/>
          <p:nvPr/>
        </p:nvSpPr>
        <p:spPr>
          <a:xfrm>
            <a:off x="3863340" y="2148840"/>
            <a:ext cx="1417320" cy="320040"/>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H₀ + H₁</a:t>
            </a:r>
            <a:endParaRPr lang="en-US" sz="1100" dirty="0"/>
          </a:p>
        </p:txBody>
      </p:sp>
      <p:sp>
        <p:nvSpPr>
          <p:cNvPr id="14" name="Text 12"/>
          <p:cNvSpPr/>
          <p:nvPr/>
        </p:nvSpPr>
        <p:spPr>
          <a:xfrm>
            <a:off x="5280660" y="1645920"/>
            <a:ext cx="256032" cy="548640"/>
          </a:xfrm>
          <a:prstGeom prst="rect">
            <a:avLst/>
          </a:prstGeom>
          <a:noFill/>
          <a:ln/>
        </p:spPr>
        <p:txBody>
          <a:bodyPr wrap="square" lIns="0" tIns="0" rIns="0" bIns="0" rtlCol="0" anchor="ctr"/>
          <a:lstStyle/>
          <a:p>
            <a:pPr marL="0" indent="0" algn="ctr">
              <a:buNone/>
            </a:pPr>
            <a:r>
              <a:rPr lang="en-US" sz="1800" dirty="0">
                <a:solidFill>
                  <a:srgbClr val="6B7280"/>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5536692" y="1371600"/>
            <a:ext cx="1417320" cy="1188720"/>
          </a:xfrm>
          <a:prstGeom prst="roundRect">
            <a:avLst>
              <a:gd name="adj" fmla="val 6154"/>
            </a:avLst>
          </a:prstGeom>
          <a:solidFill>
            <a:srgbClr val="F4F1EC"/>
          </a:solidFill>
          <a:ln/>
          <a:effectLst>
            <a:outerShdw blurRad="50800" dist="25400" dir="8100000" algn="bl" rotWithShape="0">
              <a:srgbClr val="000000">
                <a:alpha val="10000"/>
              </a:srgbClr>
            </a:outerShdw>
          </a:effectLst>
        </p:spPr>
        <p:txBody>
          <a:bodyPr/>
          <a:lstStyle/>
          <a:p>
            <a:endParaRPr lang="en-US"/>
          </a:p>
        </p:txBody>
      </p:sp>
      <p:sp>
        <p:nvSpPr>
          <p:cNvPr id="16" name="Text 14"/>
          <p:cNvSpPr/>
          <p:nvPr/>
        </p:nvSpPr>
        <p:spPr>
          <a:xfrm>
            <a:off x="5536692" y="1508760"/>
            <a:ext cx="1417320" cy="594360"/>
          </a:xfrm>
          <a:prstGeom prst="rect">
            <a:avLst/>
          </a:prstGeom>
          <a:noFill/>
          <a:ln/>
        </p:spPr>
        <p:txBody>
          <a:bodyPr wrap="square" lIns="0" tIns="0" rIns="0" bIns="0" rtlCol="0" anchor="ctr"/>
          <a:lstStyle/>
          <a:p>
            <a:pPr marL="0" indent="0" algn="ctr">
              <a:buNone/>
            </a:pPr>
            <a:r>
              <a:rPr lang="en-US" sz="1400" b="1" dirty="0">
                <a:solidFill>
                  <a:srgbClr val="1A2744"/>
                </a:solidFill>
                <a:latin typeface="Calibri" pitchFamily="34" charset="0"/>
                <a:ea typeface="Calibri" pitchFamily="34" charset="-122"/>
                <a:cs typeface="Calibri" pitchFamily="34" charset="-120"/>
              </a:rPr>
              <a:t>Vectorize</a:t>
            </a:r>
            <a:endParaRPr lang="en-US" sz="1400" dirty="0"/>
          </a:p>
        </p:txBody>
      </p:sp>
      <p:sp>
        <p:nvSpPr>
          <p:cNvPr id="17" name="Text 15"/>
          <p:cNvSpPr/>
          <p:nvPr/>
        </p:nvSpPr>
        <p:spPr>
          <a:xfrm>
            <a:off x="5536692" y="2148840"/>
            <a:ext cx="1417320" cy="320040"/>
          </a:xfrm>
          <a:prstGeom prst="rect">
            <a:avLst/>
          </a:prstGeom>
          <a:noFill/>
          <a:ln/>
        </p:spPr>
        <p:txBody>
          <a:bodyPr wrap="square" lIns="0" tIns="0" rIns="0" bIns="0" rtlCol="0" anchor="t"/>
          <a:lstStyle/>
          <a:p>
            <a:pPr marL="0" indent="0" algn="ctr">
              <a:buNone/>
            </a:pPr>
            <a:r>
              <a:rPr lang="en-US" sz="1100" dirty="0">
                <a:solidFill>
                  <a:srgbClr val="6B7280"/>
                </a:solidFill>
                <a:latin typeface="Calibri" pitchFamily="34" charset="0"/>
                <a:ea typeface="Calibri" pitchFamily="34" charset="-122"/>
                <a:cs typeface="Calibri" pitchFamily="34" charset="-120"/>
              </a:rPr>
              <a:t>Landscapes</a:t>
            </a:r>
            <a:endParaRPr lang="en-US" sz="1100" dirty="0"/>
          </a:p>
        </p:txBody>
      </p:sp>
      <p:sp>
        <p:nvSpPr>
          <p:cNvPr id="18" name="Text 16"/>
          <p:cNvSpPr/>
          <p:nvPr/>
        </p:nvSpPr>
        <p:spPr>
          <a:xfrm>
            <a:off x="6954012" y="1645920"/>
            <a:ext cx="256032" cy="548640"/>
          </a:xfrm>
          <a:prstGeom prst="rect">
            <a:avLst/>
          </a:prstGeom>
          <a:noFill/>
          <a:ln/>
        </p:spPr>
        <p:txBody>
          <a:bodyPr wrap="square" lIns="0" tIns="0" rIns="0" bIns="0" rtlCol="0" anchor="ctr"/>
          <a:lstStyle/>
          <a:p>
            <a:pPr marL="0" indent="0" algn="ctr">
              <a:buNone/>
            </a:pPr>
            <a:r>
              <a:rPr lang="en-US" sz="1800" dirty="0">
                <a:solidFill>
                  <a:srgbClr val="6B7280"/>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7210044" y="1371600"/>
            <a:ext cx="1417320" cy="1188720"/>
          </a:xfrm>
          <a:prstGeom prst="roundRect">
            <a:avLst>
              <a:gd name="adj" fmla="val 6154"/>
            </a:avLst>
          </a:prstGeom>
          <a:solidFill>
            <a:srgbClr val="F4F1EC"/>
          </a:solidFill>
          <a:ln/>
          <a:effectLst>
            <a:outerShdw blurRad="50800" dist="25400" dir="8100000" algn="bl" rotWithShape="0">
              <a:srgbClr val="000000">
                <a:alpha val="10000"/>
              </a:srgbClr>
            </a:outerShdw>
          </a:effectLst>
        </p:spPr>
        <p:txBody>
          <a:bodyPr/>
          <a:lstStyle/>
          <a:p>
            <a:endParaRPr lang="en-US"/>
          </a:p>
        </p:txBody>
      </p:sp>
      <p:sp>
        <p:nvSpPr>
          <p:cNvPr id="20" name="Text 18"/>
          <p:cNvSpPr/>
          <p:nvPr/>
        </p:nvSpPr>
        <p:spPr>
          <a:xfrm>
            <a:off x="7210044" y="1508760"/>
            <a:ext cx="1417320" cy="594360"/>
          </a:xfrm>
          <a:prstGeom prst="rect">
            <a:avLst/>
          </a:prstGeom>
          <a:noFill/>
          <a:ln/>
        </p:spPr>
        <p:txBody>
          <a:bodyPr wrap="square" lIns="0" tIns="0" rIns="0" bIns="0" rtlCol="0" anchor="ctr"/>
          <a:lstStyle/>
          <a:p>
            <a:pPr marL="0" indent="0" algn="ctr">
              <a:buNone/>
            </a:pPr>
            <a:r>
              <a:rPr lang="en-US" sz="1400" b="1" dirty="0">
                <a:solidFill>
                  <a:srgbClr val="1A2744"/>
                </a:solidFill>
                <a:latin typeface="Calibri" pitchFamily="34" charset="0"/>
                <a:ea typeface="Calibri" pitchFamily="34" charset="-122"/>
                <a:cs typeface="Calibri" pitchFamily="34" charset="-120"/>
              </a:rPr>
              <a:t>Classify</a:t>
            </a:r>
            <a:endParaRPr lang="en-US" sz="1400" dirty="0"/>
          </a:p>
        </p:txBody>
      </p:sp>
      <p:sp>
        <p:nvSpPr>
          <p:cNvPr id="21" name="Text 19"/>
          <p:cNvSpPr/>
          <p:nvPr/>
        </p:nvSpPr>
        <p:spPr>
          <a:xfrm>
            <a:off x="7210044" y="2148840"/>
            <a:ext cx="1417320" cy="320040"/>
          </a:xfrm>
          <a:prstGeom prst="rect">
            <a:avLst/>
          </a:prstGeom>
          <a:noFill/>
          <a:ln/>
        </p:spPr>
        <p:txBody>
          <a:bodyPr wrap="square" lIns="0" tIns="0" rIns="0" bIns="0" rtlCol="0" anchor="t"/>
          <a:lstStyle/>
          <a:p>
            <a:pPr marL="0" indent="0" algn="ctr">
              <a:buNone/>
            </a:pPr>
            <a:r>
              <a:rPr lang="en-US" sz="1100" dirty="0">
                <a:solidFill>
                  <a:srgbClr val="6B7280"/>
                </a:solidFill>
                <a:latin typeface="Calibri" pitchFamily="34" charset="0"/>
                <a:ea typeface="Calibri" pitchFamily="34" charset="-122"/>
                <a:cs typeface="Calibri" pitchFamily="34" charset="-120"/>
              </a:rPr>
              <a:t>SVM / MLP</a:t>
            </a:r>
            <a:endParaRPr lang="en-US" sz="1100" dirty="0"/>
          </a:p>
        </p:txBody>
      </p:sp>
      <p:sp>
        <p:nvSpPr>
          <p:cNvPr id="22" name="Text 20"/>
          <p:cNvSpPr/>
          <p:nvPr/>
        </p:nvSpPr>
        <p:spPr>
          <a:xfrm>
            <a:off x="731520" y="2926080"/>
            <a:ext cx="7680960" cy="411480"/>
          </a:xfrm>
          <a:prstGeom prst="rect">
            <a:avLst/>
          </a:prstGeom>
          <a:noFill/>
          <a:ln/>
        </p:spPr>
        <p:txBody>
          <a:bodyPr wrap="square" lIns="0" tIns="0" rIns="0" bIns="0" rtlCol="0" anchor="ctr"/>
          <a:lstStyle/>
          <a:p>
            <a:pPr marL="0" indent="0">
              <a:buNone/>
            </a:pPr>
            <a:r>
              <a:rPr lang="en-US" sz="1600" b="1" dirty="0">
                <a:solidFill>
                  <a:srgbClr val="1A2744"/>
                </a:solidFill>
                <a:latin typeface="Calibri" pitchFamily="34" charset="0"/>
                <a:ea typeface="Calibri" pitchFamily="34" charset="-122"/>
                <a:cs typeface="Calibri" pitchFamily="34" charset="-120"/>
              </a:rPr>
              <a:t>Key design levers</a:t>
            </a:r>
            <a:endParaRPr lang="en-US" sz="1600" dirty="0"/>
          </a:p>
        </p:txBody>
      </p:sp>
      <p:sp>
        <p:nvSpPr>
          <p:cNvPr id="23" name="Shape 21"/>
          <p:cNvSpPr/>
          <p:nvPr/>
        </p:nvSpPr>
        <p:spPr>
          <a:xfrm>
            <a:off x="914400" y="3502152"/>
            <a:ext cx="201168" cy="201168"/>
          </a:xfrm>
          <a:prstGeom prst="ellipse">
            <a:avLst/>
          </a:prstGeom>
          <a:solidFill>
            <a:srgbClr val="2A9D8F"/>
          </a:solidFill>
          <a:ln/>
        </p:spPr>
        <p:txBody>
          <a:bodyPr/>
          <a:lstStyle/>
          <a:p>
            <a:endParaRPr lang="en-US"/>
          </a:p>
        </p:txBody>
      </p:sp>
      <p:sp>
        <p:nvSpPr>
          <p:cNvPr id="24" name="Text 22"/>
          <p:cNvSpPr/>
          <p:nvPr/>
        </p:nvSpPr>
        <p:spPr>
          <a:xfrm>
            <a:off x="1280160" y="3429000"/>
            <a:ext cx="2011680" cy="365760"/>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Low-band masking</a:t>
            </a:r>
            <a:endParaRPr lang="en-US" sz="1300" dirty="0"/>
          </a:p>
        </p:txBody>
      </p:sp>
      <p:sp>
        <p:nvSpPr>
          <p:cNvPr id="25" name="Text 23"/>
          <p:cNvSpPr/>
          <p:nvPr/>
        </p:nvSpPr>
        <p:spPr>
          <a:xfrm>
            <a:off x="3291840" y="3429000"/>
            <a:ext cx="5120640" cy="365760"/>
          </a:xfrm>
          <a:prstGeom prst="rect">
            <a:avLst/>
          </a:prstGeom>
          <a:noFill/>
          <a:ln/>
        </p:spPr>
        <p:txBody>
          <a:bodyPr wrap="square" lIns="0" tIns="0" rIns="0" bIns="0" rtlCol="0" anchor="ctr"/>
          <a:lstStyle/>
          <a:p>
            <a:pPr marL="0" indent="0">
              <a:buNone/>
            </a:pPr>
            <a:r>
              <a:rPr lang="en-US" sz="1300" dirty="0">
                <a:solidFill>
                  <a:srgbClr val="374151"/>
                </a:solidFill>
                <a:latin typeface="Calibri" pitchFamily="34" charset="0"/>
                <a:ea typeface="Calibri" pitchFamily="34" charset="-122"/>
                <a:cs typeface="Calibri" pitchFamily="34" charset="-120"/>
              </a:rPr>
              <a:t>Keep only the low mel-frequency region of the spectrogram</a:t>
            </a:r>
            <a:endParaRPr lang="en-US" sz="1300" dirty="0"/>
          </a:p>
        </p:txBody>
      </p:sp>
      <p:sp>
        <p:nvSpPr>
          <p:cNvPr id="26" name="Shape 24"/>
          <p:cNvSpPr/>
          <p:nvPr/>
        </p:nvSpPr>
        <p:spPr>
          <a:xfrm>
            <a:off x="914400" y="4005072"/>
            <a:ext cx="201168" cy="201168"/>
          </a:xfrm>
          <a:prstGeom prst="ellipse">
            <a:avLst/>
          </a:prstGeom>
          <a:solidFill>
            <a:srgbClr val="2A9D8F"/>
          </a:solidFill>
          <a:ln/>
        </p:spPr>
        <p:txBody>
          <a:bodyPr/>
          <a:lstStyle/>
          <a:p>
            <a:endParaRPr lang="en-US"/>
          </a:p>
        </p:txBody>
      </p:sp>
      <p:sp>
        <p:nvSpPr>
          <p:cNvPr id="27" name="Text 25"/>
          <p:cNvSpPr/>
          <p:nvPr/>
        </p:nvSpPr>
        <p:spPr>
          <a:xfrm>
            <a:off x="1280160" y="3931920"/>
            <a:ext cx="2011680" cy="365760"/>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Energy gating</a:t>
            </a:r>
            <a:endParaRPr lang="en-US" sz="1300" dirty="0"/>
          </a:p>
        </p:txBody>
      </p:sp>
      <p:sp>
        <p:nvSpPr>
          <p:cNvPr id="28" name="Text 26"/>
          <p:cNvSpPr/>
          <p:nvPr/>
        </p:nvSpPr>
        <p:spPr>
          <a:xfrm>
            <a:off x="3291840" y="3931920"/>
            <a:ext cx="5120640" cy="365760"/>
          </a:xfrm>
          <a:prstGeom prst="rect">
            <a:avLst/>
          </a:prstGeom>
          <a:noFill/>
          <a:ln/>
        </p:spPr>
        <p:txBody>
          <a:bodyPr wrap="square" lIns="0" tIns="0" rIns="0" bIns="0" rtlCol="0" anchor="ctr"/>
          <a:lstStyle/>
          <a:p>
            <a:pPr marL="0" indent="0">
              <a:buNone/>
            </a:pPr>
            <a:r>
              <a:rPr lang="en-US" sz="1300" dirty="0">
                <a:solidFill>
                  <a:srgbClr val="374151"/>
                </a:solidFill>
                <a:latin typeface="Calibri" pitchFamily="34" charset="0"/>
                <a:ea typeface="Calibri" pitchFamily="34" charset="-122"/>
                <a:cs typeface="Calibri" pitchFamily="34" charset="-120"/>
              </a:rPr>
              <a:t>Suppress silent frames before computing topology</a:t>
            </a:r>
            <a:endParaRPr lang="en-US" sz="1300" dirty="0"/>
          </a:p>
        </p:txBody>
      </p:sp>
      <p:sp>
        <p:nvSpPr>
          <p:cNvPr id="29" name="Shape 27"/>
          <p:cNvSpPr/>
          <p:nvPr/>
        </p:nvSpPr>
        <p:spPr>
          <a:xfrm>
            <a:off x="914400" y="4507992"/>
            <a:ext cx="201168" cy="201168"/>
          </a:xfrm>
          <a:prstGeom prst="ellipse">
            <a:avLst/>
          </a:prstGeom>
          <a:solidFill>
            <a:srgbClr val="2A9D8F"/>
          </a:solidFill>
          <a:ln/>
        </p:spPr>
        <p:txBody>
          <a:bodyPr/>
          <a:lstStyle/>
          <a:p>
            <a:endParaRPr lang="en-US"/>
          </a:p>
        </p:txBody>
      </p:sp>
      <p:sp>
        <p:nvSpPr>
          <p:cNvPr id="30" name="Text 28"/>
          <p:cNvSpPr/>
          <p:nvPr/>
        </p:nvSpPr>
        <p:spPr>
          <a:xfrm>
            <a:off x="1280160" y="4434840"/>
            <a:ext cx="2011680" cy="365760"/>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Homology ablation</a:t>
            </a:r>
            <a:endParaRPr lang="en-US" sz="1300" dirty="0"/>
          </a:p>
        </p:txBody>
      </p:sp>
      <p:sp>
        <p:nvSpPr>
          <p:cNvPr id="31" name="Text 29"/>
          <p:cNvSpPr/>
          <p:nvPr/>
        </p:nvSpPr>
        <p:spPr>
          <a:xfrm>
            <a:off x="3291840" y="4434840"/>
            <a:ext cx="5120640" cy="365760"/>
          </a:xfrm>
          <a:prstGeom prst="rect">
            <a:avLst/>
          </a:prstGeom>
          <a:noFill/>
          <a:ln/>
        </p:spPr>
        <p:txBody>
          <a:bodyPr wrap="square" lIns="0" tIns="0" rIns="0" bIns="0" rtlCol="0" anchor="ctr"/>
          <a:lstStyle/>
          <a:p>
            <a:pPr marL="0" indent="0">
              <a:buNone/>
            </a:pPr>
            <a:r>
              <a:rPr lang="en-US" sz="1300" dirty="0">
                <a:solidFill>
                  <a:srgbClr val="374151"/>
                </a:solidFill>
                <a:latin typeface="Calibri" pitchFamily="34" charset="0"/>
                <a:ea typeface="Calibri" pitchFamily="34" charset="-122"/>
                <a:cs typeface="Calibri" pitchFamily="34" charset="-120"/>
              </a:rPr>
              <a:t>Test H₀, H₁, and H₂ separately to isolate which dimension matters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marL="0" indent="0">
              <a:buNone/>
            </a:pPr>
            <a:r>
              <a:rPr lang="en-US" sz="3200" b="1" dirty="0">
                <a:solidFill>
                  <a:srgbClr val="1A2744"/>
                </a:solidFill>
                <a:latin typeface="Georgia" pitchFamily="34" charset="0"/>
                <a:ea typeface="Georgia" pitchFamily="34" charset="-122"/>
                <a:cs typeface="Georgia" pitchFamily="34" charset="-120"/>
              </a:rPr>
              <a:t>What the Fields Look Like</a:t>
            </a:r>
            <a:endParaRPr lang="en-US" sz="3200" dirty="0"/>
          </a:p>
        </p:txBody>
      </p:sp>
      <p:sp>
        <p:nvSpPr>
          <p:cNvPr id="3" name="Text 1"/>
          <p:cNvSpPr/>
          <p:nvPr/>
        </p:nvSpPr>
        <p:spPr>
          <a:xfrm>
            <a:off x="731520" y="777240"/>
            <a:ext cx="768096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Bona fide vs. spoof spectrograms, before and after field preprocessing (dB compression + energy gating).</a:t>
            </a:r>
            <a:endParaRPr lang="en-US" sz="1300" dirty="0"/>
          </a:p>
        </p:txBody>
      </p:sp>
      <p:pic>
        <p:nvPicPr>
          <p:cNvPr id="4" name="Image 0" descr="/home/claude/img_spectrograms.png"/>
          <p:cNvPicPr>
            <a:picLocks noChangeAspect="1"/>
          </p:cNvPicPr>
          <p:nvPr/>
        </p:nvPicPr>
        <p:blipFill>
          <a:blip r:embed="rId3"/>
          <a:stretch>
            <a:fillRect/>
          </a:stretch>
        </p:blipFill>
        <p:spPr>
          <a:xfrm>
            <a:off x="731520" y="1280160"/>
            <a:ext cx="7680960" cy="36963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marL="0" indent="0">
              <a:buNone/>
            </a:pPr>
            <a:r>
              <a:rPr lang="en-US" sz="3200" b="1" dirty="0">
                <a:solidFill>
                  <a:srgbClr val="1A2744"/>
                </a:solidFill>
                <a:latin typeface="Georgia" pitchFamily="34" charset="0"/>
                <a:ea typeface="Georgia" pitchFamily="34" charset="-122"/>
                <a:cs typeface="Georgia" pitchFamily="34" charset="-120"/>
              </a:rPr>
              <a:t>How Ablation Changes the Field</a:t>
            </a:r>
            <a:endParaRPr lang="en-US" sz="3200" dirty="0"/>
          </a:p>
        </p:txBody>
      </p:sp>
      <p:sp>
        <p:nvSpPr>
          <p:cNvPr id="3" name="Text 1"/>
          <p:cNvSpPr/>
          <p:nvPr/>
        </p:nvSpPr>
        <p:spPr>
          <a:xfrm>
            <a:off x="731520" y="777240"/>
            <a:ext cx="768096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Same spoof sample under the exact field settings used in the ablation study.</a:t>
            </a:r>
            <a:endParaRPr lang="en-US" sz="1300" dirty="0"/>
          </a:p>
        </p:txBody>
      </p:sp>
      <p:pic>
        <p:nvPicPr>
          <p:cNvPr id="4" name="Image 0" descr="/home/claude/img_ablation_walk.png"/>
          <p:cNvPicPr>
            <a:picLocks noChangeAspect="1"/>
          </p:cNvPicPr>
          <p:nvPr/>
        </p:nvPicPr>
        <p:blipFill>
          <a:blip r:embed="rId3"/>
          <a:srcRect b="12477"/>
          <a:stretch>
            <a:fillRect/>
          </a:stretch>
        </p:blipFill>
        <p:spPr>
          <a:xfrm>
            <a:off x="731520" y="1407329"/>
            <a:ext cx="7680960" cy="32978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C"/>
        </a:solidFill>
        <a:effectLst/>
      </p:bgPr>
    </p:bg>
    <p:spTree>
      <p:nvGrpSpPr>
        <p:cNvPr id="1" name=""/>
        <p:cNvGrpSpPr/>
        <p:nvPr/>
      </p:nvGrpSpPr>
      <p:grpSpPr>
        <a:xfrm>
          <a:off x="0" y="0"/>
          <a:ext cx="0" cy="0"/>
          <a:chOff x="0" y="0"/>
          <a:chExt cx="0" cy="0"/>
        </a:xfrm>
      </p:grpSpPr>
      <p:sp>
        <p:nvSpPr>
          <p:cNvPr id="2" name="Text 0"/>
          <p:cNvSpPr/>
          <p:nvPr/>
        </p:nvSpPr>
        <p:spPr>
          <a:xfrm>
            <a:off x="731520" y="320040"/>
            <a:ext cx="7680960" cy="502920"/>
          </a:xfrm>
          <a:prstGeom prst="rect">
            <a:avLst/>
          </a:prstGeom>
          <a:noFill/>
          <a:ln/>
        </p:spPr>
        <p:txBody>
          <a:bodyPr wrap="square" lIns="0" tIns="0" rIns="0" bIns="0" rtlCol="0" anchor="ctr"/>
          <a:lstStyle/>
          <a:p>
            <a:pPr marL="0" indent="0">
              <a:buNone/>
            </a:pPr>
            <a:r>
              <a:rPr lang="en-US" sz="3200" b="1" dirty="0">
                <a:solidFill>
                  <a:srgbClr val="1A2744"/>
                </a:solidFill>
                <a:latin typeface="Georgia" pitchFamily="34" charset="0"/>
                <a:ea typeface="Georgia" pitchFamily="34" charset="-122"/>
                <a:cs typeface="Georgia" pitchFamily="34" charset="-120"/>
              </a:rPr>
              <a:t>Why Persistent Homology?</a:t>
            </a:r>
            <a:endParaRPr lang="en-US" sz="3200" dirty="0"/>
          </a:p>
        </p:txBody>
      </p:sp>
      <p:sp>
        <p:nvSpPr>
          <p:cNvPr id="3" name="Text 1"/>
          <p:cNvSpPr/>
          <p:nvPr/>
        </p:nvSpPr>
        <p:spPr>
          <a:xfrm>
            <a:off x="731520" y="960120"/>
            <a:ext cx="4572000" cy="457200"/>
          </a:xfrm>
          <a:prstGeom prst="rect">
            <a:avLst/>
          </a:prstGeom>
          <a:noFill/>
          <a:ln/>
        </p:spPr>
        <p:txBody>
          <a:bodyPr wrap="square" lIns="0" tIns="0" rIns="0" bIns="0" rtlCol="0" anchor="ctr"/>
          <a:lstStyle/>
          <a:p>
            <a:pPr marL="0" indent="0">
              <a:buNone/>
            </a:pPr>
            <a:r>
              <a:rPr lang="en-US" sz="1400" i="1" dirty="0">
                <a:solidFill>
                  <a:srgbClr val="374151"/>
                </a:solidFill>
                <a:latin typeface="Calibri" pitchFamily="34" charset="0"/>
                <a:ea typeface="Calibri" pitchFamily="34" charset="-122"/>
                <a:cs typeface="Calibri" pitchFamily="34" charset="-120"/>
              </a:rPr>
              <a:t>PH captures stable structure across scales, not fragile pointwise cues.</a:t>
            </a:r>
            <a:endParaRPr lang="en-US" sz="1400" dirty="0"/>
          </a:p>
        </p:txBody>
      </p:sp>
      <p:sp>
        <p:nvSpPr>
          <p:cNvPr id="4" name="Text 2"/>
          <p:cNvSpPr/>
          <p:nvPr/>
        </p:nvSpPr>
        <p:spPr>
          <a:xfrm>
            <a:off x="731520" y="1463040"/>
            <a:ext cx="4572000" cy="201168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That stability is what makes PH uniquely suited for ablation. When you remove a frequency band or a homology dimension and re-run the pipeline, PH tells you whether the stable structure survived or collapsed. Other feature extractors can also be ablated, but their features are either too entangled to localize cleanly or too low-level to carry structural meaning. PH sits in a sweet spot: its summaries are tied to real geometric properties of the input field (connected regions, loops), so a result like "H₁ matters most" is a statement about the data's shape, not about a hidden layer's weights.</a:t>
            </a:r>
            <a:endParaRPr lang="en-US" sz="1200" dirty="0"/>
          </a:p>
        </p:txBody>
      </p:sp>
      <p:sp>
        <p:nvSpPr>
          <p:cNvPr id="5" name="Shape 3"/>
          <p:cNvSpPr/>
          <p:nvPr/>
        </p:nvSpPr>
        <p:spPr>
          <a:xfrm>
            <a:off x="5760720" y="1038847"/>
            <a:ext cx="2834640" cy="5943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6" name="Shape 4"/>
          <p:cNvSpPr/>
          <p:nvPr/>
        </p:nvSpPr>
        <p:spPr>
          <a:xfrm>
            <a:off x="5760720" y="1038847"/>
            <a:ext cx="54864" cy="594360"/>
          </a:xfrm>
          <a:prstGeom prst="rect">
            <a:avLst/>
          </a:prstGeom>
          <a:solidFill>
            <a:srgbClr val="2A9D8F"/>
          </a:solidFill>
          <a:ln/>
        </p:spPr>
        <p:txBody>
          <a:bodyPr/>
          <a:lstStyle/>
          <a:p>
            <a:endParaRPr lang="en-US"/>
          </a:p>
        </p:txBody>
      </p:sp>
      <p:sp>
        <p:nvSpPr>
          <p:cNvPr id="7" name="Text 5"/>
          <p:cNvSpPr/>
          <p:nvPr/>
        </p:nvSpPr>
        <p:spPr>
          <a:xfrm>
            <a:off x="5989320" y="1084567"/>
            <a:ext cx="2468880" cy="256032"/>
          </a:xfrm>
          <a:prstGeom prst="rect">
            <a:avLst/>
          </a:prstGeom>
          <a:noFill/>
          <a:ln/>
        </p:spPr>
        <p:txBody>
          <a:bodyPr wrap="square" lIns="0" tIns="0" rIns="0" bIns="0" rtlCol="0" anchor="ctr"/>
          <a:lstStyle/>
          <a:p>
            <a:pPr marL="0" indent="0">
              <a:buNone/>
            </a:pPr>
            <a:r>
              <a:rPr lang="en-US" sz="1500" b="1" dirty="0">
                <a:solidFill>
                  <a:srgbClr val="1A2744"/>
                </a:solidFill>
                <a:latin typeface="Calibri" pitchFamily="34" charset="0"/>
                <a:ea typeface="Calibri" pitchFamily="34" charset="-122"/>
                <a:cs typeface="Calibri" pitchFamily="34" charset="-120"/>
              </a:rPr>
              <a:t>H₀</a:t>
            </a:r>
            <a:endParaRPr lang="en-US" sz="1500" dirty="0"/>
          </a:p>
        </p:txBody>
      </p:sp>
      <p:sp>
        <p:nvSpPr>
          <p:cNvPr id="8" name="Text 6"/>
          <p:cNvSpPr/>
          <p:nvPr/>
        </p:nvSpPr>
        <p:spPr>
          <a:xfrm>
            <a:off x="5989320" y="1340599"/>
            <a:ext cx="2468880" cy="22860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Connected components — clustering structure</a:t>
            </a:r>
            <a:endParaRPr lang="en-US" sz="1100" dirty="0"/>
          </a:p>
        </p:txBody>
      </p:sp>
      <p:sp>
        <p:nvSpPr>
          <p:cNvPr id="9" name="Shape 7"/>
          <p:cNvSpPr/>
          <p:nvPr/>
        </p:nvSpPr>
        <p:spPr>
          <a:xfrm>
            <a:off x="5760720" y="1770367"/>
            <a:ext cx="2834640" cy="5943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0" name="Shape 8"/>
          <p:cNvSpPr/>
          <p:nvPr/>
        </p:nvSpPr>
        <p:spPr>
          <a:xfrm>
            <a:off x="5760720" y="1770367"/>
            <a:ext cx="54864" cy="594360"/>
          </a:xfrm>
          <a:prstGeom prst="rect">
            <a:avLst/>
          </a:prstGeom>
          <a:solidFill>
            <a:srgbClr val="E76F51"/>
          </a:solidFill>
          <a:ln/>
        </p:spPr>
        <p:txBody>
          <a:bodyPr/>
          <a:lstStyle/>
          <a:p>
            <a:endParaRPr lang="en-US"/>
          </a:p>
        </p:txBody>
      </p:sp>
      <p:sp>
        <p:nvSpPr>
          <p:cNvPr id="11" name="Text 9"/>
          <p:cNvSpPr/>
          <p:nvPr/>
        </p:nvSpPr>
        <p:spPr>
          <a:xfrm>
            <a:off x="5989320" y="1816087"/>
            <a:ext cx="2468880" cy="256032"/>
          </a:xfrm>
          <a:prstGeom prst="rect">
            <a:avLst/>
          </a:prstGeom>
          <a:noFill/>
          <a:ln/>
        </p:spPr>
        <p:txBody>
          <a:bodyPr wrap="square" lIns="0" tIns="0" rIns="0" bIns="0" rtlCol="0" anchor="ctr"/>
          <a:lstStyle/>
          <a:p>
            <a:pPr marL="0" indent="0">
              <a:buNone/>
            </a:pPr>
            <a:r>
              <a:rPr lang="en-US" sz="1500" b="1" dirty="0">
                <a:solidFill>
                  <a:srgbClr val="1A2744"/>
                </a:solidFill>
                <a:latin typeface="Calibri" pitchFamily="34" charset="0"/>
                <a:ea typeface="Calibri" pitchFamily="34" charset="-122"/>
                <a:cs typeface="Calibri" pitchFamily="34" charset="-120"/>
              </a:rPr>
              <a:t>H₁</a:t>
            </a:r>
            <a:endParaRPr lang="en-US" sz="1500" dirty="0"/>
          </a:p>
        </p:txBody>
      </p:sp>
      <p:sp>
        <p:nvSpPr>
          <p:cNvPr id="12" name="Text 10"/>
          <p:cNvSpPr/>
          <p:nvPr/>
        </p:nvSpPr>
        <p:spPr>
          <a:xfrm>
            <a:off x="5989320" y="2072119"/>
            <a:ext cx="2468880" cy="22860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Loops — cyclical, intermediate-scale patterns</a:t>
            </a:r>
            <a:endParaRPr lang="en-US" sz="1100" dirty="0"/>
          </a:p>
        </p:txBody>
      </p:sp>
      <p:sp>
        <p:nvSpPr>
          <p:cNvPr id="13" name="Shape 11"/>
          <p:cNvSpPr/>
          <p:nvPr/>
        </p:nvSpPr>
        <p:spPr>
          <a:xfrm>
            <a:off x="5760720" y="2501887"/>
            <a:ext cx="2834640" cy="5943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4" name="Shape 12"/>
          <p:cNvSpPr/>
          <p:nvPr/>
        </p:nvSpPr>
        <p:spPr>
          <a:xfrm>
            <a:off x="5760720" y="2501887"/>
            <a:ext cx="54864" cy="594360"/>
          </a:xfrm>
          <a:prstGeom prst="rect">
            <a:avLst/>
          </a:prstGeom>
          <a:solidFill>
            <a:srgbClr val="6B7280"/>
          </a:solidFill>
          <a:ln/>
        </p:spPr>
        <p:txBody>
          <a:bodyPr/>
          <a:lstStyle/>
          <a:p>
            <a:endParaRPr lang="en-US"/>
          </a:p>
        </p:txBody>
      </p:sp>
      <p:sp>
        <p:nvSpPr>
          <p:cNvPr id="15" name="Text 13"/>
          <p:cNvSpPr/>
          <p:nvPr/>
        </p:nvSpPr>
        <p:spPr>
          <a:xfrm>
            <a:off x="5989320" y="2547607"/>
            <a:ext cx="2468880" cy="256032"/>
          </a:xfrm>
          <a:prstGeom prst="rect">
            <a:avLst/>
          </a:prstGeom>
          <a:noFill/>
          <a:ln/>
        </p:spPr>
        <p:txBody>
          <a:bodyPr wrap="square" lIns="0" tIns="0" rIns="0" bIns="0" rtlCol="0" anchor="ctr"/>
          <a:lstStyle/>
          <a:p>
            <a:pPr marL="0" indent="0">
              <a:buNone/>
            </a:pPr>
            <a:r>
              <a:rPr lang="en-US" sz="1500" b="1" dirty="0">
                <a:solidFill>
                  <a:srgbClr val="1A2744"/>
                </a:solidFill>
                <a:latin typeface="Calibri" pitchFamily="34" charset="0"/>
                <a:ea typeface="Calibri" pitchFamily="34" charset="-122"/>
                <a:cs typeface="Calibri" pitchFamily="34" charset="-120"/>
              </a:rPr>
              <a:t>H₂</a:t>
            </a:r>
            <a:endParaRPr lang="en-US" sz="1500" dirty="0"/>
          </a:p>
        </p:txBody>
      </p:sp>
      <p:sp>
        <p:nvSpPr>
          <p:cNvPr id="16" name="Text 14"/>
          <p:cNvSpPr/>
          <p:nvPr/>
        </p:nvSpPr>
        <p:spPr>
          <a:xfrm>
            <a:off x="5989320" y="2803639"/>
            <a:ext cx="2468880" cy="22860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Voids — higher-order cavities (not useful here)</a:t>
            </a:r>
            <a:endParaRPr lang="en-US" sz="1100" dirty="0"/>
          </a:p>
        </p:txBody>
      </p:sp>
      <p:sp>
        <p:nvSpPr>
          <p:cNvPr id="17" name="Text 15"/>
          <p:cNvSpPr/>
          <p:nvPr/>
        </p:nvSpPr>
        <p:spPr>
          <a:xfrm>
            <a:off x="731520" y="3485923"/>
            <a:ext cx="1828800" cy="365760"/>
          </a:xfrm>
          <a:prstGeom prst="rect">
            <a:avLst/>
          </a:prstGeom>
          <a:noFill/>
          <a:ln/>
        </p:spPr>
        <p:txBody>
          <a:bodyPr wrap="square" lIns="0" tIns="0" rIns="0" bIns="0" rtlCol="0" anchor="ctr"/>
          <a:lstStyle/>
          <a:p>
            <a:pPr marL="0" indent="0">
              <a:buNone/>
            </a:pPr>
            <a:r>
              <a:rPr lang="en-US" sz="1300" b="1" dirty="0">
                <a:solidFill>
                  <a:srgbClr val="2A9D8F"/>
                </a:solidFill>
                <a:latin typeface="Calibri" pitchFamily="34" charset="0"/>
                <a:ea typeface="Calibri" pitchFamily="34" charset="-122"/>
                <a:cs typeface="Calibri" pitchFamily="34" charset="-120"/>
              </a:rPr>
              <a:t>Scale-based</a:t>
            </a:r>
            <a:endParaRPr lang="en-US" sz="1300" dirty="0"/>
          </a:p>
        </p:txBody>
      </p:sp>
      <p:sp>
        <p:nvSpPr>
          <p:cNvPr id="18" name="Text 16"/>
          <p:cNvSpPr/>
          <p:nvPr/>
        </p:nvSpPr>
        <p:spPr>
          <a:xfrm>
            <a:off x="2560320" y="3485923"/>
            <a:ext cx="5852160" cy="36576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Fakes may differ across thresholds, not at one coordinate.</a:t>
            </a:r>
            <a:endParaRPr lang="en-US" sz="1200" dirty="0"/>
          </a:p>
        </p:txBody>
      </p:sp>
      <p:sp>
        <p:nvSpPr>
          <p:cNvPr id="19" name="Text 17"/>
          <p:cNvSpPr/>
          <p:nvPr/>
        </p:nvSpPr>
        <p:spPr>
          <a:xfrm>
            <a:off x="731520" y="3924835"/>
            <a:ext cx="1828800" cy="365760"/>
          </a:xfrm>
          <a:prstGeom prst="rect">
            <a:avLst/>
          </a:prstGeom>
          <a:noFill/>
          <a:ln/>
        </p:spPr>
        <p:txBody>
          <a:bodyPr wrap="square" lIns="0" tIns="0" rIns="0" bIns="0" rtlCol="0" anchor="ctr"/>
          <a:lstStyle/>
          <a:p>
            <a:pPr marL="0" indent="0">
              <a:buNone/>
            </a:pPr>
            <a:r>
              <a:rPr lang="en-US" sz="1300" b="1" dirty="0">
                <a:solidFill>
                  <a:srgbClr val="2A9D8F"/>
                </a:solidFill>
                <a:latin typeface="Calibri" pitchFamily="34" charset="0"/>
                <a:ea typeface="Calibri" pitchFamily="34" charset="-122"/>
                <a:cs typeface="Calibri" pitchFamily="34" charset="-120"/>
              </a:rPr>
              <a:t>Robust</a:t>
            </a:r>
            <a:endParaRPr lang="en-US" sz="1300" dirty="0"/>
          </a:p>
        </p:txBody>
      </p:sp>
      <p:sp>
        <p:nvSpPr>
          <p:cNvPr id="20" name="Text 18"/>
          <p:cNvSpPr/>
          <p:nvPr/>
        </p:nvSpPr>
        <p:spPr>
          <a:xfrm>
            <a:off x="2560320" y="3924835"/>
            <a:ext cx="5852160" cy="36576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Stability theorem: small input change → small persistence change.</a:t>
            </a:r>
            <a:endParaRPr lang="en-US" sz="1200" dirty="0"/>
          </a:p>
        </p:txBody>
      </p:sp>
      <p:sp>
        <p:nvSpPr>
          <p:cNvPr id="21" name="Text 19"/>
          <p:cNvSpPr/>
          <p:nvPr/>
        </p:nvSpPr>
        <p:spPr>
          <a:xfrm>
            <a:off x="731520" y="4363747"/>
            <a:ext cx="1828800" cy="365760"/>
          </a:xfrm>
          <a:prstGeom prst="rect">
            <a:avLst/>
          </a:prstGeom>
          <a:noFill/>
          <a:ln/>
        </p:spPr>
        <p:txBody>
          <a:bodyPr wrap="square" lIns="0" tIns="0" rIns="0" bIns="0" rtlCol="0" anchor="ctr"/>
          <a:lstStyle/>
          <a:p>
            <a:pPr marL="0" indent="0">
              <a:buNone/>
            </a:pPr>
            <a:r>
              <a:rPr lang="en-US" sz="1300" b="1" dirty="0">
                <a:solidFill>
                  <a:srgbClr val="2A9D8F"/>
                </a:solidFill>
                <a:latin typeface="Calibri" pitchFamily="34" charset="0"/>
                <a:ea typeface="Calibri" pitchFamily="34" charset="-122"/>
                <a:cs typeface="Calibri" pitchFamily="34" charset="-120"/>
              </a:rPr>
              <a:t>Interpretable</a:t>
            </a:r>
            <a:endParaRPr lang="en-US" sz="1300" dirty="0"/>
          </a:p>
        </p:txBody>
      </p:sp>
      <p:sp>
        <p:nvSpPr>
          <p:cNvPr id="22" name="Text 20"/>
          <p:cNvSpPr/>
          <p:nvPr/>
        </p:nvSpPr>
        <p:spPr>
          <a:xfrm>
            <a:off x="2560320" y="4363747"/>
            <a:ext cx="5852160" cy="36576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Ablation results map to geometry: H₀, H₁, low vs high band.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20040"/>
            <a:ext cx="7680960" cy="548640"/>
          </a:xfrm>
          <a:prstGeom prst="rect">
            <a:avLst/>
          </a:prstGeom>
          <a:noFill/>
          <a:ln/>
        </p:spPr>
        <p:txBody>
          <a:bodyPr wrap="square" lIns="0" tIns="0" rIns="0" bIns="0" rtlCol="0" anchor="ctr"/>
          <a:lstStyle/>
          <a:p>
            <a:pPr marL="0" indent="0">
              <a:buNone/>
            </a:pPr>
            <a:r>
              <a:rPr lang="en-US" sz="3000" b="1" dirty="0">
                <a:solidFill>
                  <a:srgbClr val="1A2744"/>
                </a:solidFill>
                <a:latin typeface="Georgia" pitchFamily="34" charset="0"/>
                <a:ea typeface="Georgia" pitchFamily="34" charset="-122"/>
                <a:cs typeface="Georgia" pitchFamily="34" charset="-120"/>
              </a:rPr>
              <a:t>Cubical vs. Vietoris-Rips Complexes</a:t>
            </a:r>
            <a:endParaRPr lang="en-US" sz="3000" dirty="0"/>
          </a:p>
        </p:txBody>
      </p:sp>
      <p:sp>
        <p:nvSpPr>
          <p:cNvPr id="3" name="Text 1"/>
          <p:cNvSpPr/>
          <p:nvPr/>
        </p:nvSpPr>
        <p:spPr>
          <a:xfrm>
            <a:off x="731520" y="822960"/>
            <a:ext cx="7680960" cy="36576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We learned Vietoris-Rips in class. This project uses cubical complexes instead. Here is why.</a:t>
            </a:r>
            <a:endParaRPr lang="en-US" sz="1400" dirty="0"/>
          </a:p>
        </p:txBody>
      </p:sp>
      <p:sp>
        <p:nvSpPr>
          <p:cNvPr id="4" name="Shape 2"/>
          <p:cNvSpPr/>
          <p:nvPr/>
        </p:nvSpPr>
        <p:spPr>
          <a:xfrm>
            <a:off x="731520" y="1417320"/>
            <a:ext cx="3657600" cy="3017520"/>
          </a:xfrm>
          <a:prstGeom prst="rect">
            <a:avLst/>
          </a:prstGeom>
          <a:solidFill>
            <a:srgbClr val="FFFFFF"/>
          </a:solidFill>
          <a:ln w="12700">
            <a:solidFill>
              <a:srgbClr val="E5E7EB"/>
            </a:solidFill>
            <a:prstDash val="solid"/>
          </a:ln>
          <a:effectLst>
            <a:outerShdw blurRad="50800" dist="25400" dir="8100000" algn="bl" rotWithShape="0">
              <a:srgbClr val="000000">
                <a:alpha val="10000"/>
              </a:srgbClr>
            </a:outerShdw>
          </a:effectLst>
        </p:spPr>
        <p:txBody>
          <a:bodyPr/>
          <a:lstStyle/>
          <a:p>
            <a:endParaRPr lang="en-US"/>
          </a:p>
        </p:txBody>
      </p:sp>
      <p:sp>
        <p:nvSpPr>
          <p:cNvPr id="5" name="Shape 3"/>
          <p:cNvSpPr/>
          <p:nvPr/>
        </p:nvSpPr>
        <p:spPr>
          <a:xfrm>
            <a:off x="731520" y="1417320"/>
            <a:ext cx="3657600" cy="457200"/>
          </a:xfrm>
          <a:prstGeom prst="rect">
            <a:avLst/>
          </a:prstGeom>
          <a:solidFill>
            <a:srgbClr val="2B3D5B"/>
          </a:solidFill>
          <a:ln/>
        </p:spPr>
        <p:txBody>
          <a:bodyPr/>
          <a:lstStyle/>
          <a:p>
            <a:endParaRPr lang="en-US"/>
          </a:p>
        </p:txBody>
      </p:sp>
      <p:sp>
        <p:nvSpPr>
          <p:cNvPr id="6" name="Text 4"/>
          <p:cNvSpPr/>
          <p:nvPr/>
        </p:nvSpPr>
        <p:spPr>
          <a:xfrm>
            <a:off x="731520" y="1417320"/>
            <a:ext cx="36576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Vietoris-Rips</a:t>
            </a:r>
            <a:endParaRPr lang="en-US" sz="1600" dirty="0"/>
          </a:p>
        </p:txBody>
      </p:sp>
      <p:sp>
        <p:nvSpPr>
          <p:cNvPr id="7" name="Text 5"/>
          <p:cNvSpPr/>
          <p:nvPr/>
        </p:nvSpPr>
        <p:spPr>
          <a:xfrm>
            <a:off x="960120" y="2011680"/>
            <a:ext cx="3200400" cy="384048"/>
          </a:xfrm>
          <a:prstGeom prst="rect">
            <a:avLst/>
          </a:prstGeom>
          <a:noFill/>
          <a:ln/>
        </p:spPr>
        <p:txBody>
          <a:bodyPr wrap="square" lIns="0" tIns="0" rIns="0" bIns="0" rtlCol="0" anchor="ctr"/>
          <a:lstStyle/>
          <a:p>
            <a:pPr marL="0" indent="0">
              <a:buNone/>
            </a:pPr>
            <a:r>
              <a:rPr lang="en-US" sz="1150" dirty="0">
                <a:solidFill>
                  <a:srgbClr val="374151"/>
                </a:solidFill>
                <a:latin typeface="Calibri" pitchFamily="34" charset="0"/>
                <a:ea typeface="Calibri" pitchFamily="34" charset="-122"/>
                <a:cs typeface="Calibri" pitchFamily="34" charset="-120"/>
              </a:rPr>
              <a:t>Input: a point cloud in ℝᵈ</a:t>
            </a:r>
            <a:endParaRPr lang="en-US" sz="1150" dirty="0"/>
          </a:p>
        </p:txBody>
      </p:sp>
      <p:sp>
        <p:nvSpPr>
          <p:cNvPr id="8" name="Text 6"/>
          <p:cNvSpPr/>
          <p:nvPr/>
        </p:nvSpPr>
        <p:spPr>
          <a:xfrm>
            <a:off x="960120" y="2450592"/>
            <a:ext cx="3200400" cy="384048"/>
          </a:xfrm>
          <a:prstGeom prst="rect">
            <a:avLst/>
          </a:prstGeom>
          <a:noFill/>
          <a:ln/>
        </p:spPr>
        <p:txBody>
          <a:bodyPr wrap="square" lIns="0" tIns="0" rIns="0" bIns="0" rtlCol="0" anchor="ctr"/>
          <a:lstStyle/>
          <a:p>
            <a:pPr marL="0" indent="0">
              <a:buNone/>
            </a:pPr>
            <a:r>
              <a:rPr lang="en-US" sz="1150" dirty="0">
                <a:solidFill>
                  <a:srgbClr val="374151"/>
                </a:solidFill>
                <a:latin typeface="Calibri" pitchFamily="34" charset="0"/>
                <a:ea typeface="Calibri" pitchFamily="34" charset="-122"/>
                <a:cs typeface="Calibri" pitchFamily="34" charset="-120"/>
              </a:rPr>
              <a:t>Build simplicial complex from pairwise distances: connect points within radius ε</a:t>
            </a:r>
            <a:endParaRPr lang="en-US" sz="1150" dirty="0"/>
          </a:p>
        </p:txBody>
      </p:sp>
      <p:sp>
        <p:nvSpPr>
          <p:cNvPr id="9" name="Text 7"/>
          <p:cNvSpPr/>
          <p:nvPr/>
        </p:nvSpPr>
        <p:spPr>
          <a:xfrm>
            <a:off x="960120" y="2889504"/>
            <a:ext cx="3200400" cy="384048"/>
          </a:xfrm>
          <a:prstGeom prst="rect">
            <a:avLst/>
          </a:prstGeom>
          <a:noFill/>
          <a:ln/>
        </p:spPr>
        <p:txBody>
          <a:bodyPr wrap="square" lIns="0" tIns="0" rIns="0" bIns="0" rtlCol="0" anchor="ctr"/>
          <a:lstStyle/>
          <a:p>
            <a:pPr marL="0" indent="0">
              <a:buNone/>
            </a:pPr>
            <a:r>
              <a:rPr lang="en-US" sz="1150" dirty="0">
                <a:solidFill>
                  <a:srgbClr val="374151"/>
                </a:solidFill>
                <a:latin typeface="Calibri" pitchFamily="34" charset="0"/>
                <a:ea typeface="Calibri" pitchFamily="34" charset="-122"/>
                <a:cs typeface="Calibri" pitchFamily="34" charset="-120"/>
              </a:rPr>
              <a:t>Grow ε to track birth/death of features</a:t>
            </a:r>
            <a:endParaRPr lang="en-US" sz="1150" dirty="0"/>
          </a:p>
        </p:txBody>
      </p:sp>
      <p:sp>
        <p:nvSpPr>
          <p:cNvPr id="10" name="Text 8"/>
          <p:cNvSpPr/>
          <p:nvPr/>
        </p:nvSpPr>
        <p:spPr>
          <a:xfrm>
            <a:off x="960120" y="3328416"/>
            <a:ext cx="3200400" cy="384048"/>
          </a:xfrm>
          <a:prstGeom prst="rect">
            <a:avLst/>
          </a:prstGeom>
          <a:noFill/>
          <a:ln/>
        </p:spPr>
        <p:txBody>
          <a:bodyPr wrap="square" lIns="0" tIns="0" rIns="0" bIns="0" rtlCol="0" anchor="ctr"/>
          <a:lstStyle/>
          <a:p>
            <a:pPr marL="0" indent="0">
              <a:buNone/>
            </a:pPr>
            <a:r>
              <a:rPr lang="en-US" sz="1150" dirty="0">
                <a:solidFill>
                  <a:srgbClr val="374151"/>
                </a:solidFill>
                <a:latin typeface="Calibri" pitchFamily="34" charset="0"/>
                <a:ea typeface="Calibri" pitchFamily="34" charset="-122"/>
                <a:cs typeface="Calibri" pitchFamily="34" charset="-120"/>
              </a:rPr>
              <a:t>Good for: unstructured data, embeddings, trajectories</a:t>
            </a:r>
            <a:endParaRPr lang="en-US" sz="1150" dirty="0"/>
          </a:p>
        </p:txBody>
      </p:sp>
      <p:sp>
        <p:nvSpPr>
          <p:cNvPr id="11" name="Text 9"/>
          <p:cNvSpPr/>
          <p:nvPr/>
        </p:nvSpPr>
        <p:spPr>
          <a:xfrm>
            <a:off x="960120" y="3767328"/>
            <a:ext cx="3200400" cy="384048"/>
          </a:xfrm>
          <a:prstGeom prst="rect">
            <a:avLst/>
          </a:prstGeom>
          <a:noFill/>
          <a:ln/>
        </p:spPr>
        <p:txBody>
          <a:bodyPr wrap="square" lIns="0" tIns="0" rIns="0" bIns="0" rtlCol="0" anchor="ctr"/>
          <a:lstStyle/>
          <a:p>
            <a:pPr marL="0" indent="0">
              <a:buNone/>
            </a:pPr>
            <a:r>
              <a:rPr lang="en-US" sz="1150" dirty="0">
                <a:solidFill>
                  <a:srgbClr val="374151"/>
                </a:solidFill>
                <a:latin typeface="Calibri" pitchFamily="34" charset="0"/>
                <a:ea typeface="Calibri" pitchFamily="34" charset="-122"/>
                <a:cs typeface="Calibri" pitchFamily="34" charset="-120"/>
              </a:rPr>
              <a:t>Expensive: O(n²) distances, combinatorial blowup in higher dimensions</a:t>
            </a:r>
            <a:endParaRPr lang="en-US" sz="1150" dirty="0"/>
          </a:p>
        </p:txBody>
      </p:sp>
      <p:sp>
        <p:nvSpPr>
          <p:cNvPr id="12" name="Shape 10"/>
          <p:cNvSpPr/>
          <p:nvPr/>
        </p:nvSpPr>
        <p:spPr>
          <a:xfrm>
            <a:off x="4754880" y="1417320"/>
            <a:ext cx="3657600" cy="3017520"/>
          </a:xfrm>
          <a:prstGeom prst="rect">
            <a:avLst/>
          </a:prstGeom>
          <a:solidFill>
            <a:srgbClr val="FFFFFF"/>
          </a:solidFill>
          <a:ln w="12700">
            <a:solidFill>
              <a:srgbClr val="E5E7EB"/>
            </a:solidFill>
            <a:prstDash val="solid"/>
          </a:ln>
          <a:effectLst>
            <a:outerShdw blurRad="50800" dist="25400" dir="8100000" algn="bl" rotWithShape="0">
              <a:srgbClr val="000000">
                <a:alpha val="10000"/>
              </a:srgbClr>
            </a:outerShdw>
          </a:effectLst>
        </p:spPr>
        <p:txBody>
          <a:bodyPr/>
          <a:lstStyle/>
          <a:p>
            <a:endParaRPr lang="en-US"/>
          </a:p>
        </p:txBody>
      </p:sp>
      <p:sp>
        <p:nvSpPr>
          <p:cNvPr id="13" name="Shape 11"/>
          <p:cNvSpPr/>
          <p:nvPr/>
        </p:nvSpPr>
        <p:spPr>
          <a:xfrm>
            <a:off x="4754880" y="1417320"/>
            <a:ext cx="3657600" cy="457200"/>
          </a:xfrm>
          <a:prstGeom prst="rect">
            <a:avLst/>
          </a:prstGeom>
          <a:solidFill>
            <a:srgbClr val="2A9D8F"/>
          </a:solidFill>
          <a:ln/>
        </p:spPr>
        <p:txBody>
          <a:bodyPr/>
          <a:lstStyle/>
          <a:p>
            <a:endParaRPr lang="en-US"/>
          </a:p>
        </p:txBody>
      </p:sp>
      <p:sp>
        <p:nvSpPr>
          <p:cNvPr id="14" name="Text 12"/>
          <p:cNvSpPr/>
          <p:nvPr/>
        </p:nvSpPr>
        <p:spPr>
          <a:xfrm>
            <a:off x="4754880" y="1417320"/>
            <a:ext cx="36576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Cubical</a:t>
            </a:r>
            <a:endParaRPr lang="en-US" sz="1600" dirty="0"/>
          </a:p>
        </p:txBody>
      </p:sp>
      <p:sp>
        <p:nvSpPr>
          <p:cNvPr id="15" name="Text 13"/>
          <p:cNvSpPr/>
          <p:nvPr/>
        </p:nvSpPr>
        <p:spPr>
          <a:xfrm>
            <a:off x="4983480" y="2011680"/>
            <a:ext cx="3200400" cy="384048"/>
          </a:xfrm>
          <a:prstGeom prst="rect">
            <a:avLst/>
          </a:prstGeom>
          <a:noFill/>
          <a:ln/>
        </p:spPr>
        <p:txBody>
          <a:bodyPr wrap="square" lIns="0" tIns="0" rIns="0" bIns="0" rtlCol="0" anchor="ctr"/>
          <a:lstStyle/>
          <a:p>
            <a:pPr marL="0" indent="0">
              <a:buNone/>
            </a:pPr>
            <a:r>
              <a:rPr lang="en-US" sz="1150" dirty="0">
                <a:solidFill>
                  <a:srgbClr val="374151"/>
                </a:solidFill>
                <a:latin typeface="Calibri" pitchFamily="34" charset="0"/>
                <a:ea typeface="Calibri" pitchFamily="34" charset="-122"/>
                <a:cs typeface="Calibri" pitchFamily="34" charset="-120"/>
              </a:rPr>
              <a:t>Input: a grid / image (like a spectrogram)</a:t>
            </a:r>
            <a:endParaRPr lang="en-US" sz="1150" dirty="0"/>
          </a:p>
        </p:txBody>
      </p:sp>
      <p:sp>
        <p:nvSpPr>
          <p:cNvPr id="16" name="Text 14"/>
          <p:cNvSpPr/>
          <p:nvPr/>
        </p:nvSpPr>
        <p:spPr>
          <a:xfrm>
            <a:off x="4983480" y="2450592"/>
            <a:ext cx="3200400" cy="384048"/>
          </a:xfrm>
          <a:prstGeom prst="rect">
            <a:avLst/>
          </a:prstGeom>
          <a:noFill/>
          <a:ln/>
        </p:spPr>
        <p:txBody>
          <a:bodyPr wrap="square" lIns="0" tIns="0" rIns="0" bIns="0" rtlCol="0" anchor="ctr"/>
          <a:lstStyle/>
          <a:p>
            <a:pPr marL="0" indent="0">
              <a:buNone/>
            </a:pPr>
            <a:r>
              <a:rPr lang="en-US" sz="1150" dirty="0">
                <a:solidFill>
                  <a:srgbClr val="374151"/>
                </a:solidFill>
                <a:latin typeface="Calibri" pitchFamily="34" charset="0"/>
                <a:ea typeface="Calibri" pitchFamily="34" charset="-122"/>
                <a:cs typeface="Calibri" pitchFamily="34" charset="-120"/>
              </a:rPr>
              <a:t>Build complex from grid cells directly: pixels → vertices, adjacent pixels → edges, 2×2 blocks → squares</a:t>
            </a:r>
            <a:endParaRPr lang="en-US" sz="1150" dirty="0"/>
          </a:p>
        </p:txBody>
      </p:sp>
      <p:sp>
        <p:nvSpPr>
          <p:cNvPr id="17" name="Text 15"/>
          <p:cNvSpPr/>
          <p:nvPr/>
        </p:nvSpPr>
        <p:spPr>
          <a:xfrm>
            <a:off x="4983480" y="2889504"/>
            <a:ext cx="3200400" cy="384048"/>
          </a:xfrm>
          <a:prstGeom prst="rect">
            <a:avLst/>
          </a:prstGeom>
          <a:noFill/>
          <a:ln/>
        </p:spPr>
        <p:txBody>
          <a:bodyPr wrap="square" lIns="0" tIns="0" rIns="0" bIns="0" rtlCol="0" anchor="ctr"/>
          <a:lstStyle/>
          <a:p>
            <a:pPr marL="0" indent="0">
              <a:buNone/>
            </a:pPr>
            <a:r>
              <a:rPr lang="en-US" sz="1150" dirty="0">
                <a:solidFill>
                  <a:srgbClr val="374151"/>
                </a:solidFill>
                <a:latin typeface="Calibri" pitchFamily="34" charset="0"/>
                <a:ea typeface="Calibri" pitchFamily="34" charset="-122"/>
                <a:cs typeface="Calibri" pitchFamily="34" charset="-120"/>
              </a:rPr>
              <a:t>Sublevel-set filtration: sweep a threshold over pixel values</a:t>
            </a:r>
            <a:endParaRPr lang="en-US" sz="1150" dirty="0"/>
          </a:p>
        </p:txBody>
      </p:sp>
      <p:sp>
        <p:nvSpPr>
          <p:cNvPr id="18" name="Text 16"/>
          <p:cNvSpPr/>
          <p:nvPr/>
        </p:nvSpPr>
        <p:spPr>
          <a:xfrm>
            <a:off x="4983480" y="3328416"/>
            <a:ext cx="3200400" cy="384048"/>
          </a:xfrm>
          <a:prstGeom prst="rect">
            <a:avLst/>
          </a:prstGeom>
          <a:noFill/>
          <a:ln/>
        </p:spPr>
        <p:txBody>
          <a:bodyPr wrap="square" lIns="0" tIns="0" rIns="0" bIns="0" rtlCol="0" anchor="ctr"/>
          <a:lstStyle/>
          <a:p>
            <a:pPr marL="0" indent="0">
              <a:buNone/>
            </a:pPr>
            <a:r>
              <a:rPr lang="en-US" sz="1150" dirty="0">
                <a:solidFill>
                  <a:srgbClr val="374151"/>
                </a:solidFill>
                <a:latin typeface="Calibri" pitchFamily="34" charset="0"/>
                <a:ea typeface="Calibri" pitchFamily="34" charset="-122"/>
                <a:cs typeface="Calibri" pitchFamily="34" charset="-120"/>
              </a:rPr>
              <a:t>Good for: images, fields, any data on a regular grid</a:t>
            </a:r>
            <a:endParaRPr lang="en-US" sz="1150" dirty="0"/>
          </a:p>
        </p:txBody>
      </p:sp>
      <p:sp>
        <p:nvSpPr>
          <p:cNvPr id="19" name="Text 17"/>
          <p:cNvSpPr/>
          <p:nvPr/>
        </p:nvSpPr>
        <p:spPr>
          <a:xfrm>
            <a:off x="4983480" y="3767328"/>
            <a:ext cx="3200400" cy="384048"/>
          </a:xfrm>
          <a:prstGeom prst="rect">
            <a:avLst/>
          </a:prstGeom>
          <a:noFill/>
          <a:ln/>
        </p:spPr>
        <p:txBody>
          <a:bodyPr wrap="square" lIns="0" tIns="0" rIns="0" bIns="0" rtlCol="0" anchor="ctr"/>
          <a:lstStyle/>
          <a:p>
            <a:pPr marL="0" indent="0">
              <a:buNone/>
            </a:pPr>
            <a:r>
              <a:rPr lang="en-US" sz="1150" dirty="0">
                <a:solidFill>
                  <a:srgbClr val="374151"/>
                </a:solidFill>
                <a:latin typeface="Calibri" pitchFamily="34" charset="0"/>
                <a:ea typeface="Calibri" pitchFamily="34" charset="-122"/>
                <a:cs typeface="Calibri" pitchFamily="34" charset="-120"/>
              </a:rPr>
              <a:t>Fast: linear in pixel count, no distance matrix needed</a:t>
            </a:r>
            <a:endParaRPr lang="en-US" sz="1150" dirty="0"/>
          </a:p>
        </p:txBody>
      </p:sp>
      <p:sp>
        <p:nvSpPr>
          <p:cNvPr id="20" name="Shape 18"/>
          <p:cNvSpPr/>
          <p:nvPr/>
        </p:nvSpPr>
        <p:spPr>
          <a:xfrm>
            <a:off x="731520" y="4572000"/>
            <a:ext cx="7680960" cy="411480"/>
          </a:xfrm>
          <a:prstGeom prst="rect">
            <a:avLst/>
          </a:prstGeom>
          <a:solidFill>
            <a:srgbClr val="F4F1EC"/>
          </a:solidFill>
          <a:ln/>
        </p:spPr>
        <p:txBody>
          <a:bodyPr/>
          <a:lstStyle/>
          <a:p>
            <a:endParaRPr lang="en-US"/>
          </a:p>
        </p:txBody>
      </p:sp>
      <p:sp>
        <p:nvSpPr>
          <p:cNvPr id="21" name="Text 19"/>
          <p:cNvSpPr/>
          <p:nvPr/>
        </p:nvSpPr>
        <p:spPr>
          <a:xfrm>
            <a:off x="914400" y="4590288"/>
            <a:ext cx="7315200" cy="365760"/>
          </a:xfrm>
          <a:prstGeom prst="rect">
            <a:avLst/>
          </a:prstGeom>
          <a:noFill/>
          <a:ln/>
        </p:spPr>
        <p:txBody>
          <a:bodyPr wrap="square" lIns="0" tIns="0" rIns="0" bIns="0" rtlCol="0" anchor="ctr"/>
          <a:lstStyle/>
          <a:p>
            <a:pPr marL="0" indent="0" algn="ctr">
              <a:buNone/>
            </a:pPr>
            <a:r>
              <a:rPr lang="en-US" sz="1300" b="1" dirty="0">
                <a:solidFill>
                  <a:srgbClr val="1A2744"/>
                </a:solidFill>
                <a:latin typeface="Calibri" pitchFamily="34" charset="0"/>
                <a:ea typeface="Calibri" pitchFamily="34" charset="-122"/>
                <a:cs typeface="Calibri" pitchFamily="34" charset="-120"/>
              </a:rPr>
              <a:t>A spectrogram is already a grid → cubical PH respects that structure instead of discarding it into a point cloud.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marL="0" indent="0">
              <a:buNone/>
            </a:pPr>
            <a:r>
              <a:rPr lang="en-US" sz="3200" b="1" dirty="0">
                <a:solidFill>
                  <a:srgbClr val="1A2744"/>
                </a:solidFill>
                <a:latin typeface="Georgia" pitchFamily="34" charset="0"/>
                <a:ea typeface="Georgia" pitchFamily="34" charset="-122"/>
                <a:cs typeface="Georgia" pitchFamily="34" charset="-120"/>
              </a:rPr>
              <a:t>2019 LA: Structural Ablations</a:t>
            </a:r>
            <a:endParaRPr lang="en-US" sz="3200" dirty="0"/>
          </a:p>
        </p:txBody>
      </p:sp>
      <p:sp>
        <p:nvSpPr>
          <p:cNvPr id="3" name="Text 1"/>
          <p:cNvSpPr/>
          <p:nvPr/>
        </p:nvSpPr>
        <p:spPr>
          <a:xfrm>
            <a:off x="731520" y="822960"/>
            <a:ext cx="7680960" cy="41148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Low-band topology wins. H₁ is the most robust component. Removing the low band is the main failure mode.</a:t>
            </a:r>
            <a:endParaRPr lang="en-US" sz="1400" dirty="0"/>
          </a:p>
        </p:txBody>
      </p:sp>
      <p:pic>
        <p:nvPicPr>
          <p:cNvPr id="4" name="Image 0" descr="/home/claude/img_ablation.png"/>
          <p:cNvPicPr>
            <a:picLocks noChangeAspect="1"/>
          </p:cNvPicPr>
          <p:nvPr/>
        </p:nvPicPr>
        <p:blipFill>
          <a:blip r:embed="rId3"/>
          <a:stretch>
            <a:fillRect/>
          </a:stretch>
        </p:blipFill>
        <p:spPr>
          <a:xfrm>
            <a:off x="731520" y="1417320"/>
            <a:ext cx="7680960" cy="294444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marL="0" indent="0">
              <a:buNone/>
            </a:pPr>
            <a:r>
              <a:rPr lang="en-US" sz="3200" b="1" dirty="0">
                <a:solidFill>
                  <a:srgbClr val="1A2744"/>
                </a:solidFill>
                <a:latin typeface="Georgia" pitchFamily="34" charset="0"/>
                <a:ea typeface="Georgia" pitchFamily="34" charset="-122"/>
                <a:cs typeface="Georgia" pitchFamily="34" charset="-120"/>
              </a:rPr>
              <a:t>Multi-Dataset Comparison</a:t>
            </a:r>
            <a:endParaRPr lang="en-US" sz="3200" dirty="0"/>
          </a:p>
        </p:txBody>
      </p:sp>
      <p:sp>
        <p:nvSpPr>
          <p:cNvPr id="3" name="Text 1"/>
          <p:cNvSpPr/>
          <p:nvPr/>
        </p:nvSpPr>
        <p:spPr>
          <a:xfrm>
            <a:off x="731520" y="822960"/>
            <a:ext cx="7680960" cy="41148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The low-band family keeps winning, but the exact branch shifts with the domain.</a:t>
            </a:r>
            <a:endParaRPr lang="en-US" sz="1400" dirty="0"/>
          </a:p>
        </p:txBody>
      </p:sp>
      <p:pic>
        <p:nvPicPr>
          <p:cNvPr id="4" name="Image 0" descr="/home/claude/img_multi.png"/>
          <p:cNvPicPr>
            <a:picLocks noChangeAspect="1"/>
          </p:cNvPicPr>
          <p:nvPr/>
        </p:nvPicPr>
        <p:blipFill>
          <a:blip r:embed="rId3"/>
          <a:stretch>
            <a:fillRect/>
          </a:stretch>
        </p:blipFill>
        <p:spPr>
          <a:xfrm>
            <a:off x="731520" y="1417320"/>
            <a:ext cx="7680960" cy="302452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marL="0" indent="0">
              <a:buNone/>
            </a:pPr>
            <a:r>
              <a:rPr lang="en-US" sz="3200" b="1" dirty="0">
                <a:solidFill>
                  <a:srgbClr val="1A2744"/>
                </a:solidFill>
                <a:latin typeface="Georgia" pitchFamily="34" charset="0"/>
                <a:ea typeface="Georgia" pitchFamily="34" charset="-122"/>
                <a:cs typeface="Georgia" pitchFamily="34" charset="-120"/>
              </a:rPr>
              <a:t>Topology-Only Neural Models</a:t>
            </a:r>
            <a:endParaRPr lang="en-US" sz="3200" dirty="0"/>
          </a:p>
        </p:txBody>
      </p:sp>
      <p:sp>
        <p:nvSpPr>
          <p:cNvPr id="3" name="Text 1"/>
          <p:cNvSpPr/>
          <p:nvPr/>
        </p:nvSpPr>
        <p:spPr>
          <a:xfrm>
            <a:off x="731520" y="822960"/>
            <a:ext cx="7680960" cy="41148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Same topological inputs, more expressive classifier. Staged MLP trains the robust core first.</a:t>
            </a:r>
            <a:endParaRPr lang="en-US" sz="1400" dirty="0"/>
          </a:p>
        </p:txBody>
      </p:sp>
      <p:pic>
        <p:nvPicPr>
          <p:cNvPr id="4" name="Image 0" descr="/home/claude/img_neural.png"/>
          <p:cNvPicPr>
            <a:picLocks noChangeAspect="1"/>
          </p:cNvPicPr>
          <p:nvPr/>
        </p:nvPicPr>
        <p:blipFill>
          <a:blip r:embed="rId3"/>
          <a:stretch>
            <a:fillRect/>
          </a:stretch>
        </p:blipFill>
        <p:spPr>
          <a:xfrm>
            <a:off x="731520" y="1417320"/>
            <a:ext cx="7680960" cy="322932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C"/>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marL="0" indent="0">
              <a:buNone/>
            </a:pPr>
            <a:r>
              <a:rPr lang="en-US" sz="3200" b="1" dirty="0">
                <a:solidFill>
                  <a:srgbClr val="1A2744"/>
                </a:solidFill>
                <a:latin typeface="Georgia" pitchFamily="34" charset="0"/>
                <a:ea typeface="Georgia" pitchFamily="34" charset="-122"/>
                <a:cs typeface="Georgia" pitchFamily="34" charset="-120"/>
              </a:rPr>
              <a:t>Sample-Level Explanation</a:t>
            </a:r>
            <a:endParaRPr lang="en-US" sz="3200" dirty="0"/>
          </a:p>
        </p:txBody>
      </p:sp>
      <p:sp>
        <p:nvSpPr>
          <p:cNvPr id="3" name="Text 1"/>
          <p:cNvSpPr/>
          <p:nvPr/>
        </p:nvSpPr>
        <p:spPr>
          <a:xfrm>
            <a:off x="731520" y="822960"/>
            <a:ext cx="7680960" cy="41148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A bona fide sample where the full-field model says "fake" — but low-band / H₁ fixes the decision.</a:t>
            </a:r>
            <a:endParaRPr lang="en-US" sz="1400" dirty="0"/>
          </a:p>
        </p:txBody>
      </p:sp>
      <p:pic>
        <p:nvPicPr>
          <p:cNvPr id="4" name="Image 0" descr="/home/claude/img_bonafide.png"/>
          <p:cNvPicPr>
            <a:picLocks noChangeAspect="1"/>
          </p:cNvPicPr>
          <p:nvPr/>
        </p:nvPicPr>
        <p:blipFill>
          <a:blip r:embed="rId3"/>
          <a:stretch>
            <a:fillRect/>
          </a:stretch>
        </p:blipFill>
        <p:spPr>
          <a:xfrm>
            <a:off x="731520" y="1417320"/>
            <a:ext cx="7680960" cy="342986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3400" b="1" dirty="0">
                <a:solidFill>
                  <a:srgbClr val="1A2744"/>
                </a:solidFill>
                <a:latin typeface="Georgia" pitchFamily="34" charset="0"/>
                <a:ea typeface="Georgia" pitchFamily="34" charset="-122"/>
                <a:cs typeface="Georgia" pitchFamily="34" charset="-120"/>
              </a:rPr>
              <a:t>Limitations &amp; Caveats</a:t>
            </a:r>
            <a:endParaRPr lang="en-US" sz="3400" dirty="0"/>
          </a:p>
        </p:txBody>
      </p:sp>
      <p:sp>
        <p:nvSpPr>
          <p:cNvPr id="3" name="Shape 1"/>
          <p:cNvSpPr/>
          <p:nvPr/>
        </p:nvSpPr>
        <p:spPr>
          <a:xfrm>
            <a:off x="731520" y="1234440"/>
            <a:ext cx="7680960" cy="777240"/>
          </a:xfrm>
          <a:prstGeom prst="rect">
            <a:avLst/>
          </a:prstGeom>
          <a:solidFill>
            <a:srgbClr val="FFFFFF"/>
          </a:solidFill>
          <a:ln w="9525">
            <a:solidFill>
              <a:srgbClr val="E5E7EB"/>
            </a:solidFill>
            <a:prstDash val="solid"/>
          </a:ln>
        </p:spPr>
        <p:txBody>
          <a:bodyPr/>
          <a:lstStyle/>
          <a:p>
            <a:endParaRPr lang="en-US"/>
          </a:p>
        </p:txBody>
      </p:sp>
      <p:sp>
        <p:nvSpPr>
          <p:cNvPr id="4" name="Shape 2"/>
          <p:cNvSpPr/>
          <p:nvPr/>
        </p:nvSpPr>
        <p:spPr>
          <a:xfrm>
            <a:off x="731520" y="1234440"/>
            <a:ext cx="54864" cy="777240"/>
          </a:xfrm>
          <a:prstGeom prst="rect">
            <a:avLst/>
          </a:prstGeom>
          <a:solidFill>
            <a:srgbClr val="E76F51"/>
          </a:solidFill>
          <a:ln/>
        </p:spPr>
        <p:txBody>
          <a:bodyPr/>
          <a:lstStyle/>
          <a:p>
            <a:endParaRPr lang="en-US"/>
          </a:p>
        </p:txBody>
      </p:sp>
      <p:sp>
        <p:nvSpPr>
          <p:cNvPr id="5" name="Text 3"/>
          <p:cNvSpPr/>
          <p:nvPr/>
        </p:nvSpPr>
        <p:spPr>
          <a:xfrm>
            <a:off x="1051560" y="1307592"/>
            <a:ext cx="7132320" cy="292608"/>
          </a:xfrm>
          <a:prstGeom prst="rect">
            <a:avLst/>
          </a:prstGeom>
          <a:noFill/>
          <a:ln/>
        </p:spPr>
        <p:txBody>
          <a:bodyPr wrap="square" lIns="0" tIns="0" rIns="0" bIns="0" rtlCol="0" anchor="ctr"/>
          <a:lstStyle/>
          <a:p>
            <a:pPr marL="0" indent="0">
              <a:buNone/>
            </a:pPr>
            <a:r>
              <a:rPr lang="en-US" sz="1400" b="1" dirty="0">
                <a:solidFill>
                  <a:srgbClr val="1A2744"/>
                </a:solidFill>
                <a:latin typeface="Calibri" pitchFamily="34" charset="0"/>
                <a:ea typeface="Calibri" pitchFamily="34" charset="-122"/>
                <a:cs typeface="Calibri" pitchFamily="34" charset="-120"/>
              </a:rPr>
              <a:t>Transfer is weaker than in-domain</a:t>
            </a:r>
            <a:endParaRPr lang="en-US" sz="1400" dirty="0"/>
          </a:p>
        </p:txBody>
      </p:sp>
      <p:sp>
        <p:nvSpPr>
          <p:cNvPr id="6" name="Text 4"/>
          <p:cNvSpPr/>
          <p:nvPr/>
        </p:nvSpPr>
        <p:spPr>
          <a:xfrm>
            <a:off x="1051560" y="1618488"/>
            <a:ext cx="7132320" cy="32004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EER roughly doubles from 2019 in-domain (~0.09) to 2021 LA transfer (~0.21). The structural story survives, but raw metrics degrade.</a:t>
            </a:r>
            <a:endParaRPr lang="en-US" sz="1200" dirty="0"/>
          </a:p>
        </p:txBody>
      </p:sp>
      <p:sp>
        <p:nvSpPr>
          <p:cNvPr id="7" name="Shape 5"/>
          <p:cNvSpPr/>
          <p:nvPr/>
        </p:nvSpPr>
        <p:spPr>
          <a:xfrm>
            <a:off x="731520" y="2148840"/>
            <a:ext cx="7680960" cy="777240"/>
          </a:xfrm>
          <a:prstGeom prst="rect">
            <a:avLst/>
          </a:prstGeom>
          <a:solidFill>
            <a:srgbClr val="FFFFFF"/>
          </a:solidFill>
          <a:ln w="9525">
            <a:solidFill>
              <a:srgbClr val="E5E7EB"/>
            </a:solidFill>
            <a:prstDash val="solid"/>
          </a:ln>
        </p:spPr>
        <p:txBody>
          <a:bodyPr/>
          <a:lstStyle/>
          <a:p>
            <a:endParaRPr lang="en-US"/>
          </a:p>
        </p:txBody>
      </p:sp>
      <p:sp>
        <p:nvSpPr>
          <p:cNvPr id="8" name="Shape 6"/>
          <p:cNvSpPr/>
          <p:nvPr/>
        </p:nvSpPr>
        <p:spPr>
          <a:xfrm>
            <a:off x="731520" y="2148840"/>
            <a:ext cx="54864" cy="777240"/>
          </a:xfrm>
          <a:prstGeom prst="rect">
            <a:avLst/>
          </a:prstGeom>
          <a:solidFill>
            <a:srgbClr val="E76F51"/>
          </a:solidFill>
          <a:ln/>
        </p:spPr>
        <p:txBody>
          <a:bodyPr/>
          <a:lstStyle/>
          <a:p>
            <a:endParaRPr lang="en-US"/>
          </a:p>
        </p:txBody>
      </p:sp>
      <p:sp>
        <p:nvSpPr>
          <p:cNvPr id="9" name="Text 7"/>
          <p:cNvSpPr/>
          <p:nvPr/>
        </p:nvSpPr>
        <p:spPr>
          <a:xfrm>
            <a:off x="1051560" y="2221992"/>
            <a:ext cx="7132320" cy="292608"/>
          </a:xfrm>
          <a:prstGeom prst="rect">
            <a:avLst/>
          </a:prstGeom>
          <a:noFill/>
          <a:ln/>
        </p:spPr>
        <p:txBody>
          <a:bodyPr wrap="square" lIns="0" tIns="0" rIns="0" bIns="0" rtlCol="0" anchor="ctr"/>
          <a:lstStyle/>
          <a:p>
            <a:pPr marL="0" indent="0">
              <a:buNone/>
            </a:pPr>
            <a:r>
              <a:rPr lang="en-US" sz="1400" b="1" dirty="0">
                <a:solidFill>
                  <a:srgbClr val="1A2744"/>
                </a:solidFill>
                <a:latin typeface="Calibri" pitchFamily="34" charset="0"/>
                <a:ea typeface="Calibri" pitchFamily="34" charset="-122"/>
                <a:cs typeface="Calibri" pitchFamily="34" charset="-120"/>
              </a:rPr>
              <a:t>DF results are bounded</a:t>
            </a:r>
            <a:endParaRPr lang="en-US" sz="1400" dirty="0"/>
          </a:p>
        </p:txBody>
      </p:sp>
      <p:sp>
        <p:nvSpPr>
          <p:cNvPr id="10" name="Text 8"/>
          <p:cNvSpPr/>
          <p:nvPr/>
        </p:nvSpPr>
        <p:spPr>
          <a:xfrm>
            <a:off x="1051560" y="2532888"/>
            <a:ext cx="7132320" cy="32004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DF transfer used balanced subsets from one archive shard. These are useful evidence, not a definitive DF benchmark claim.</a:t>
            </a:r>
            <a:endParaRPr lang="en-US" sz="1200" dirty="0"/>
          </a:p>
        </p:txBody>
      </p:sp>
      <p:sp>
        <p:nvSpPr>
          <p:cNvPr id="11" name="Shape 9"/>
          <p:cNvSpPr/>
          <p:nvPr/>
        </p:nvSpPr>
        <p:spPr>
          <a:xfrm>
            <a:off x="731520" y="3063240"/>
            <a:ext cx="7680960" cy="777240"/>
          </a:xfrm>
          <a:prstGeom prst="rect">
            <a:avLst/>
          </a:prstGeom>
          <a:solidFill>
            <a:srgbClr val="FFFFFF"/>
          </a:solidFill>
          <a:ln w="9525">
            <a:solidFill>
              <a:srgbClr val="E5E7EB"/>
            </a:solidFill>
            <a:prstDash val="solid"/>
          </a:ln>
        </p:spPr>
        <p:txBody>
          <a:bodyPr/>
          <a:lstStyle/>
          <a:p>
            <a:endParaRPr lang="en-US"/>
          </a:p>
        </p:txBody>
      </p:sp>
      <p:sp>
        <p:nvSpPr>
          <p:cNvPr id="12" name="Shape 10"/>
          <p:cNvSpPr/>
          <p:nvPr/>
        </p:nvSpPr>
        <p:spPr>
          <a:xfrm>
            <a:off x="731520" y="3063240"/>
            <a:ext cx="54864" cy="777240"/>
          </a:xfrm>
          <a:prstGeom prst="rect">
            <a:avLst/>
          </a:prstGeom>
          <a:solidFill>
            <a:srgbClr val="E76F51"/>
          </a:solidFill>
          <a:ln/>
        </p:spPr>
        <p:txBody>
          <a:bodyPr/>
          <a:lstStyle/>
          <a:p>
            <a:endParaRPr lang="en-US"/>
          </a:p>
        </p:txBody>
      </p:sp>
      <p:sp>
        <p:nvSpPr>
          <p:cNvPr id="13" name="Text 11"/>
          <p:cNvSpPr/>
          <p:nvPr/>
        </p:nvSpPr>
        <p:spPr>
          <a:xfrm>
            <a:off x="1051560" y="3136392"/>
            <a:ext cx="7132320" cy="292608"/>
          </a:xfrm>
          <a:prstGeom prst="rect">
            <a:avLst/>
          </a:prstGeom>
          <a:noFill/>
          <a:ln/>
        </p:spPr>
        <p:txBody>
          <a:bodyPr wrap="square" lIns="0" tIns="0" rIns="0" bIns="0" rtlCol="0" anchor="ctr"/>
          <a:lstStyle/>
          <a:p>
            <a:pPr marL="0" indent="0">
              <a:buNone/>
            </a:pPr>
            <a:r>
              <a:rPr lang="en-US" sz="1400" b="1" dirty="0">
                <a:solidFill>
                  <a:srgbClr val="1A2744"/>
                </a:solidFill>
                <a:latin typeface="Calibri" pitchFamily="34" charset="0"/>
                <a:ea typeface="Calibri" pitchFamily="34" charset="-122"/>
                <a:cs typeface="Calibri" pitchFamily="34" charset="-120"/>
              </a:rPr>
              <a:t>No SOTA claim</a:t>
            </a:r>
            <a:endParaRPr lang="en-US" sz="1400" dirty="0"/>
          </a:p>
        </p:txBody>
      </p:sp>
      <p:sp>
        <p:nvSpPr>
          <p:cNvPr id="14" name="Text 12"/>
          <p:cNvSpPr/>
          <p:nvPr/>
        </p:nvSpPr>
        <p:spPr>
          <a:xfrm>
            <a:off x="1051560" y="3447288"/>
            <a:ext cx="7132320" cy="32004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The goal is interpretable structural insight, not beating end-to-end neural detectors. A CNN on raw spectrograms would likely score higher.</a:t>
            </a:r>
            <a:endParaRPr lang="en-US" sz="1200" dirty="0"/>
          </a:p>
        </p:txBody>
      </p:sp>
      <p:sp>
        <p:nvSpPr>
          <p:cNvPr id="15" name="Shape 13"/>
          <p:cNvSpPr/>
          <p:nvPr/>
        </p:nvSpPr>
        <p:spPr>
          <a:xfrm>
            <a:off x="731520" y="3977640"/>
            <a:ext cx="7680960" cy="777240"/>
          </a:xfrm>
          <a:prstGeom prst="rect">
            <a:avLst/>
          </a:prstGeom>
          <a:solidFill>
            <a:srgbClr val="FFFFFF"/>
          </a:solidFill>
          <a:ln w="9525">
            <a:solidFill>
              <a:srgbClr val="E5E7EB"/>
            </a:solidFill>
            <a:prstDash val="solid"/>
          </a:ln>
        </p:spPr>
        <p:txBody>
          <a:bodyPr/>
          <a:lstStyle/>
          <a:p>
            <a:endParaRPr lang="en-US"/>
          </a:p>
        </p:txBody>
      </p:sp>
      <p:sp>
        <p:nvSpPr>
          <p:cNvPr id="16" name="Shape 14"/>
          <p:cNvSpPr/>
          <p:nvPr/>
        </p:nvSpPr>
        <p:spPr>
          <a:xfrm>
            <a:off x="731520" y="3977640"/>
            <a:ext cx="54864" cy="777240"/>
          </a:xfrm>
          <a:prstGeom prst="rect">
            <a:avLst/>
          </a:prstGeom>
          <a:solidFill>
            <a:srgbClr val="E76F51"/>
          </a:solidFill>
          <a:ln/>
        </p:spPr>
        <p:txBody>
          <a:bodyPr/>
          <a:lstStyle/>
          <a:p>
            <a:endParaRPr lang="en-US"/>
          </a:p>
        </p:txBody>
      </p:sp>
      <p:sp>
        <p:nvSpPr>
          <p:cNvPr id="17" name="Text 15"/>
          <p:cNvSpPr/>
          <p:nvPr/>
        </p:nvSpPr>
        <p:spPr>
          <a:xfrm>
            <a:off x="1051560" y="4050792"/>
            <a:ext cx="7132320" cy="292608"/>
          </a:xfrm>
          <a:prstGeom prst="rect">
            <a:avLst/>
          </a:prstGeom>
          <a:noFill/>
          <a:ln/>
        </p:spPr>
        <p:txBody>
          <a:bodyPr wrap="square" lIns="0" tIns="0" rIns="0" bIns="0" rtlCol="0" anchor="ctr"/>
          <a:lstStyle/>
          <a:p>
            <a:pPr marL="0" indent="0">
              <a:buNone/>
            </a:pPr>
            <a:r>
              <a:rPr lang="en-US" sz="1400" b="1" dirty="0">
                <a:solidFill>
                  <a:srgbClr val="1A2744"/>
                </a:solidFill>
                <a:latin typeface="Calibri" pitchFamily="34" charset="0"/>
                <a:ea typeface="Calibri" pitchFamily="34" charset="-122"/>
                <a:cs typeface="Calibri" pitchFamily="34" charset="-120"/>
              </a:rPr>
              <a:t>Neural model hasn't beaten best classical config</a:t>
            </a:r>
            <a:endParaRPr lang="en-US" sz="1400" dirty="0"/>
          </a:p>
        </p:txBody>
      </p:sp>
      <p:sp>
        <p:nvSpPr>
          <p:cNvPr id="18" name="Text 16"/>
          <p:cNvSpPr/>
          <p:nvPr/>
        </p:nvSpPr>
        <p:spPr>
          <a:xfrm>
            <a:off x="1051560" y="4361688"/>
            <a:ext cx="7132320" cy="32004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The staged MLP beat the linear topology baseline, but has not yet surpassed the strongest tuned classical transfer branch.</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744"/>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Takeaways</a:t>
            </a:r>
            <a:endParaRPr lang="en-US" sz="3600" dirty="0"/>
          </a:p>
        </p:txBody>
      </p:sp>
      <p:sp>
        <p:nvSpPr>
          <p:cNvPr id="3" name="Shape 1"/>
          <p:cNvSpPr/>
          <p:nvPr/>
        </p:nvSpPr>
        <p:spPr>
          <a:xfrm>
            <a:off x="914400" y="1188720"/>
            <a:ext cx="164592" cy="164592"/>
          </a:xfrm>
          <a:prstGeom prst="ellipse">
            <a:avLst/>
          </a:prstGeom>
          <a:solidFill>
            <a:srgbClr val="2A9D8F"/>
          </a:solidFill>
          <a:ln/>
        </p:spPr>
        <p:txBody>
          <a:bodyPr/>
          <a:lstStyle/>
          <a:p>
            <a:endParaRPr lang="en-US"/>
          </a:p>
        </p:txBody>
      </p:sp>
      <p:sp>
        <p:nvSpPr>
          <p:cNvPr id="4" name="Text 2"/>
          <p:cNvSpPr/>
          <p:nvPr/>
        </p:nvSpPr>
        <p:spPr>
          <a:xfrm>
            <a:off x="1280160" y="1097280"/>
            <a:ext cx="7132320" cy="50292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Cubical PH on spectrogram fields works for audio deepfake detection.</a:t>
            </a:r>
            <a:endParaRPr lang="en-US" sz="1500" dirty="0"/>
          </a:p>
        </p:txBody>
      </p:sp>
      <p:sp>
        <p:nvSpPr>
          <p:cNvPr id="5" name="Shape 3"/>
          <p:cNvSpPr/>
          <p:nvPr/>
        </p:nvSpPr>
        <p:spPr>
          <a:xfrm>
            <a:off x="914400" y="1783080"/>
            <a:ext cx="164592" cy="164592"/>
          </a:xfrm>
          <a:prstGeom prst="ellipse">
            <a:avLst/>
          </a:prstGeom>
          <a:solidFill>
            <a:srgbClr val="2A9D8F"/>
          </a:solidFill>
          <a:ln/>
        </p:spPr>
        <p:txBody>
          <a:bodyPr/>
          <a:lstStyle/>
          <a:p>
            <a:endParaRPr lang="en-US"/>
          </a:p>
        </p:txBody>
      </p:sp>
      <p:sp>
        <p:nvSpPr>
          <p:cNvPr id="6" name="Text 4"/>
          <p:cNvSpPr/>
          <p:nvPr/>
        </p:nvSpPr>
        <p:spPr>
          <a:xfrm>
            <a:off x="1280160" y="1691640"/>
            <a:ext cx="7132320" cy="50292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Low-band topology is the most robust structural motif — it survives across four dataset settings.</a:t>
            </a:r>
            <a:endParaRPr lang="en-US" sz="1500" dirty="0"/>
          </a:p>
        </p:txBody>
      </p:sp>
      <p:sp>
        <p:nvSpPr>
          <p:cNvPr id="7" name="Shape 5"/>
          <p:cNvSpPr/>
          <p:nvPr/>
        </p:nvSpPr>
        <p:spPr>
          <a:xfrm>
            <a:off x="914400" y="2377440"/>
            <a:ext cx="164592" cy="164592"/>
          </a:xfrm>
          <a:prstGeom prst="ellipse">
            <a:avLst/>
          </a:prstGeom>
          <a:solidFill>
            <a:srgbClr val="2A9D8F"/>
          </a:solidFill>
          <a:ln/>
        </p:spPr>
        <p:txBody>
          <a:bodyPr/>
          <a:lstStyle/>
          <a:p>
            <a:endParaRPr lang="en-US"/>
          </a:p>
        </p:txBody>
      </p:sp>
      <p:sp>
        <p:nvSpPr>
          <p:cNvPr id="8" name="Text 6"/>
          <p:cNvSpPr/>
          <p:nvPr/>
        </p:nvSpPr>
        <p:spPr>
          <a:xfrm>
            <a:off x="1280160" y="2286000"/>
            <a:ext cx="7132320" cy="50292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H₁ (loop-level persistence) is the most transferable homology component.</a:t>
            </a:r>
            <a:endParaRPr lang="en-US" sz="1500" dirty="0"/>
          </a:p>
        </p:txBody>
      </p:sp>
      <p:sp>
        <p:nvSpPr>
          <p:cNvPr id="9" name="Shape 7"/>
          <p:cNvSpPr/>
          <p:nvPr/>
        </p:nvSpPr>
        <p:spPr>
          <a:xfrm>
            <a:off x="914400" y="2971800"/>
            <a:ext cx="164592" cy="164592"/>
          </a:xfrm>
          <a:prstGeom prst="ellipse">
            <a:avLst/>
          </a:prstGeom>
          <a:solidFill>
            <a:srgbClr val="2A9D8F"/>
          </a:solidFill>
          <a:ln/>
        </p:spPr>
        <p:txBody>
          <a:bodyPr/>
          <a:lstStyle/>
          <a:p>
            <a:endParaRPr lang="en-US"/>
          </a:p>
        </p:txBody>
      </p:sp>
      <p:sp>
        <p:nvSpPr>
          <p:cNvPr id="10" name="Text 8"/>
          <p:cNvSpPr/>
          <p:nvPr/>
        </p:nvSpPr>
        <p:spPr>
          <a:xfrm>
            <a:off x="1280160" y="2880360"/>
            <a:ext cx="7132320" cy="50292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PH-based ablation provides explanations tied to the geometry of the signal, not just model internals.</a:t>
            </a:r>
            <a:endParaRPr lang="en-US" sz="1500" dirty="0"/>
          </a:p>
        </p:txBody>
      </p:sp>
      <p:sp>
        <p:nvSpPr>
          <p:cNvPr id="11" name="Shape 9"/>
          <p:cNvSpPr/>
          <p:nvPr/>
        </p:nvSpPr>
        <p:spPr>
          <a:xfrm>
            <a:off x="914400" y="3566160"/>
            <a:ext cx="164592" cy="164592"/>
          </a:xfrm>
          <a:prstGeom prst="ellipse">
            <a:avLst/>
          </a:prstGeom>
          <a:solidFill>
            <a:srgbClr val="2A9D8F"/>
          </a:solidFill>
          <a:ln/>
        </p:spPr>
        <p:txBody>
          <a:bodyPr/>
          <a:lstStyle/>
          <a:p>
            <a:endParaRPr lang="en-US"/>
          </a:p>
        </p:txBody>
      </p:sp>
      <p:sp>
        <p:nvSpPr>
          <p:cNvPr id="12" name="Text 10"/>
          <p:cNvSpPr/>
          <p:nvPr/>
        </p:nvSpPr>
        <p:spPr>
          <a:xfrm>
            <a:off x="1280160" y="3474720"/>
            <a:ext cx="7132320" cy="50292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Staged topology-only neural learning preserves the robust core better than flat alternatives.</a:t>
            </a:r>
            <a:endParaRPr lang="en-US" sz="1500" dirty="0"/>
          </a:p>
        </p:txBody>
      </p:sp>
      <p:sp>
        <p:nvSpPr>
          <p:cNvPr id="13" name="Shape 11"/>
          <p:cNvSpPr/>
          <p:nvPr/>
        </p:nvSpPr>
        <p:spPr>
          <a:xfrm>
            <a:off x="0" y="4434840"/>
            <a:ext cx="9144000" cy="708660"/>
          </a:xfrm>
          <a:prstGeom prst="rect">
            <a:avLst/>
          </a:prstGeom>
          <a:solidFill>
            <a:srgbClr val="2B3D5B"/>
          </a:solidFill>
          <a:ln/>
        </p:spPr>
        <p:txBody>
          <a:bodyPr/>
          <a:lstStyle/>
          <a:p>
            <a:endParaRPr lang="en-US"/>
          </a:p>
        </p:txBody>
      </p:sp>
      <p:sp>
        <p:nvSpPr>
          <p:cNvPr id="14" name="Text 12"/>
          <p:cNvSpPr/>
          <p:nvPr/>
        </p:nvSpPr>
        <p:spPr>
          <a:xfrm>
            <a:off x="731520" y="4480560"/>
            <a:ext cx="7680960" cy="548640"/>
          </a:xfrm>
          <a:prstGeom prst="rect">
            <a:avLst/>
          </a:prstGeom>
          <a:noFill/>
          <a:ln/>
        </p:spPr>
        <p:txBody>
          <a:bodyPr wrap="square" lIns="0" tIns="0" rIns="0" bIns="0" rtlCol="0" anchor="ctr"/>
          <a:lstStyle/>
          <a:p>
            <a:pPr marL="0" indent="0" algn="ctr">
              <a:buNone/>
            </a:pPr>
            <a:r>
              <a:rPr lang="en-US" sz="1500" i="1" dirty="0">
                <a:solidFill>
                  <a:srgbClr val="40BFA3"/>
                </a:solidFill>
                <a:latin typeface="Calibri" pitchFamily="34" charset="0"/>
                <a:ea typeface="Calibri" pitchFamily="34" charset="-122"/>
                <a:cs typeface="Calibri" pitchFamily="34" charset="-120"/>
              </a:rPr>
              <a:t>Topology is not just usable here — it is diagnostically useful.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TotalTime>
  <Words>2829</Words>
  <Application>Microsoft Office PowerPoint</Application>
  <PresentationFormat>On-screen Show (16:9)</PresentationFormat>
  <Paragraphs>118</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TDA for Audio Deepfake Detection</dc:title>
  <dc:subject>PptxGenJS Presentation</dc:subject>
  <dc:creator>Owen Rempfer</dc:creator>
  <cp:lastModifiedBy>Owen Rempfer</cp:lastModifiedBy>
  <cp:revision>2</cp:revision>
  <dcterms:created xsi:type="dcterms:W3CDTF">2026-04-27T16:27:32Z</dcterms:created>
  <dcterms:modified xsi:type="dcterms:W3CDTF">2026-04-27T19:00:57Z</dcterms:modified>
</cp:coreProperties>
</file>